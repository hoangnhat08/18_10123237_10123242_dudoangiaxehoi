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0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embeddedFontLst>
    <p:embeddedFont>
      <p:font typeface="JetBrains Mono"/>
      <p:regular r:id="rId28"/>
    </p:embeddedFont>
    <p:embeddedFont>
      <p:font typeface="Plus Jakarta Sans"/>
      <p:bold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7CA4B-3A7E-4BA6-A85B-E20443235B0D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B01C6-151A-4024-BDB7-3E7CA93F6BF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713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B01C6-151A-4024-BDB7-3E7CA93F6BF5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8088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841402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902172"/>
            <a:ext cx="1181100" cy="28575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416522"/>
            <a:ext cx="114300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lus Jakarta Sans"/>
              </a:rPr>
              <a:t>DỰ ĐOÁN GIÁ XE Ô TÔ CŨ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17502"/>
            <a:ext cx="6613798" cy="2527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Phân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tích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dữ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liệu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(EDA) · So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sánh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mô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hình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học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máy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·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Kiến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trúc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hệ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thống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&amp;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Triển</a:t>
            </a:r>
            <a:r>
              <a:rPr sz="1500" b="1" i="0" u="none" dirty="0">
                <a:solidFill>
                  <a:srgbClr val="2DD4B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2DD4BF"/>
                </a:solidFill>
                <a:latin typeface="Plus Jakarta Sans"/>
              </a:rPr>
              <a:t>khai</a:t>
            </a:r>
            <a:endParaRPr sz="1500" b="1" i="0" u="none" dirty="0">
              <a:solidFill>
                <a:srgbClr val="2DD4BF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5350" y="1959322"/>
            <a:ext cx="1009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BÀI TẬP LỚN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945034"/>
            <a:ext cx="1845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Plus Jakarta Sans"/>
              </a:rPr>
              <a:t>HỌC MÁY CƠ BẢN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231927"/>
            <a:ext cx="176189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4A3B8"/>
                </a:solidFill>
                <a:latin typeface="Plus Jakarta Sans"/>
              </a:rPr>
              <a:t>SINH VIÊN THỰC HIỆN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79577"/>
            <a:ext cx="211974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Đỗ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Văn Nghĩa — 10123237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736752"/>
            <a:ext cx="264258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Nguyễn Hoàng Nhất — 10123242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0648" y="4527202"/>
            <a:ext cx="137935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i="0" u="none">
                <a:solidFill>
                  <a:srgbClr val="94A3B8"/>
                </a:solidFill>
                <a:latin typeface="Plus Jakarta Sans"/>
              </a:rPr>
              <a:t>ĐƠN VỊ ĐÀO TẠO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686" y="4736752"/>
            <a:ext cx="363131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i="0" u="none">
                <a:solidFill>
                  <a:srgbClr val="F8FAFC"/>
                </a:solidFill>
                <a:latin typeface="Plus Jakarta Sans"/>
              </a:rPr>
              <a:t>Trường Đại học Công nghệ Kỹ thuật Hưng 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133475"/>
            <a:ext cx="5724525" cy="5343525"/>
          </a:xfrm>
          <a:prstGeom prst="roundRect">
            <a:avLst>
              <a:gd name="adj" fmla="val 213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ounded Rectangle 2"/>
          <p:cNvSpPr/>
          <p:nvPr/>
        </p:nvSpPr>
        <p:spPr>
          <a:xfrm>
            <a:off x="657225" y="4065240"/>
            <a:ext cx="5324475" cy="752475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Rounded Rectangle 3"/>
          <p:cNvSpPr/>
          <p:nvPr/>
        </p:nvSpPr>
        <p:spPr>
          <a:xfrm>
            <a:off x="6410325" y="1133475"/>
            <a:ext cx="5324475" cy="2395983"/>
          </a:xfrm>
          <a:prstGeom prst="roundRect">
            <a:avLst>
              <a:gd name="adj" fmla="val 47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Rounded Rectangle 4"/>
          <p:cNvSpPr/>
          <p:nvPr/>
        </p:nvSpPr>
        <p:spPr>
          <a:xfrm>
            <a:off x="6410325" y="3681858"/>
            <a:ext cx="5324475" cy="2795141"/>
          </a:xfrm>
          <a:prstGeom prst="roundRect">
            <a:avLst>
              <a:gd name="adj" fmla="val 40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6610350" y="1743075"/>
            <a:ext cx="542925" cy="295275"/>
          </a:xfrm>
          <a:prstGeom prst="roundRect">
            <a:avLst>
              <a:gd name="adj" fmla="val 1935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7248525" y="1743075"/>
            <a:ext cx="1057275" cy="295275"/>
          </a:xfrm>
          <a:prstGeom prst="roundRect">
            <a:avLst>
              <a:gd name="adj" fmla="val 1935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Rounded Rectangle 7"/>
          <p:cNvSpPr/>
          <p:nvPr/>
        </p:nvSpPr>
        <p:spPr>
          <a:xfrm>
            <a:off x="8401050" y="1743075"/>
            <a:ext cx="1219200" cy="295275"/>
          </a:xfrm>
          <a:prstGeom prst="roundRect">
            <a:avLst>
              <a:gd name="adj" fmla="val 1935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Rounded Rectangle 8"/>
          <p:cNvSpPr/>
          <p:nvPr/>
        </p:nvSpPr>
        <p:spPr>
          <a:xfrm>
            <a:off x="9715500" y="1743075"/>
            <a:ext cx="1181100" cy="295275"/>
          </a:xfrm>
          <a:prstGeom prst="roundRect">
            <a:avLst>
              <a:gd name="adj" fmla="val 1935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Rounded Rectangle 9"/>
          <p:cNvSpPr/>
          <p:nvPr/>
        </p:nvSpPr>
        <p:spPr>
          <a:xfrm>
            <a:off x="6610350" y="4291458"/>
            <a:ext cx="60007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7286625" y="4291458"/>
            <a:ext cx="63817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Rounded Rectangle 11"/>
          <p:cNvSpPr/>
          <p:nvPr/>
        </p:nvSpPr>
        <p:spPr>
          <a:xfrm>
            <a:off x="8001000" y="4291458"/>
            <a:ext cx="60960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Rounded Rectangle 12"/>
          <p:cNvSpPr/>
          <p:nvPr/>
        </p:nvSpPr>
        <p:spPr>
          <a:xfrm>
            <a:off x="8686800" y="4291458"/>
            <a:ext cx="128587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Rounded Rectangle 13"/>
          <p:cNvSpPr/>
          <p:nvPr/>
        </p:nvSpPr>
        <p:spPr>
          <a:xfrm>
            <a:off x="10048875" y="4291458"/>
            <a:ext cx="105727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Rounded Rectangle 14"/>
          <p:cNvSpPr/>
          <p:nvPr/>
        </p:nvSpPr>
        <p:spPr>
          <a:xfrm>
            <a:off x="6610350" y="4653408"/>
            <a:ext cx="102870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792759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888009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50" y="1395412"/>
            <a:ext cx="1333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3943796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381000"/>
            <a:ext cx="202510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D9488"/>
                </a:solidFill>
                <a:latin typeface="Plus Jakarta Sans"/>
              </a:rPr>
              <a:t>CHƯƠNG 1 — TỔNG QUAN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9600"/>
            <a:ext cx="1815818" cy="3041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Bài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toán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Bộ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dữ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liệu</a:t>
            </a:r>
            <a:endParaRPr sz="16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7225" y="3326159"/>
            <a:ext cx="54197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Dự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đoán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giá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rao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bán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của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xe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ô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tô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cũ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(</a:t>
            </a:r>
            <a:r>
              <a:rPr sz="1400" b="1" i="0" u="none" dirty="0">
                <a:solidFill>
                  <a:srgbClr val="166534"/>
                </a:solidFill>
                <a:latin typeface="Plus Jakarta Sans"/>
              </a:rPr>
              <a:t>price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,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đơn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vị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: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triệu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VNĐ)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dựa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trên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các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đặc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điểm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kỹ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thuật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,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năm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sản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xuất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,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tình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trạng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và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xuất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166534"/>
                </a:solidFill>
                <a:latin typeface="Plus Jakarta Sans"/>
              </a:rPr>
              <a:t>xứ</a:t>
            </a:r>
            <a:r>
              <a:rPr sz="1400" b="0" i="0" u="none" dirty="0">
                <a:solidFill>
                  <a:srgbClr val="166534"/>
                </a:solidFill>
                <a:latin typeface="Plus Jakarta San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525" y="2849909"/>
            <a:ext cx="326775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14532D"/>
                </a:solidFill>
                <a:latin typeface="Plus Jakarta Sans"/>
              </a:rPr>
              <a:t>Hồi</a:t>
            </a:r>
            <a:r>
              <a:rPr sz="1400" b="1" i="0" u="none" dirty="0">
                <a:solidFill>
                  <a:srgbClr val="14532D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14532D"/>
                </a:solidFill>
                <a:latin typeface="Plus Jakarta Sans"/>
              </a:rPr>
              <a:t>quy</a:t>
            </a:r>
            <a:r>
              <a:rPr sz="1400" b="1" i="0" u="none" dirty="0">
                <a:solidFill>
                  <a:srgbClr val="14532D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14532D"/>
                </a:solidFill>
                <a:latin typeface="Plus Jakarta Sans"/>
              </a:rPr>
              <a:t>có</a:t>
            </a:r>
            <a:r>
              <a:rPr sz="1400" b="1" i="0" u="none" dirty="0">
                <a:solidFill>
                  <a:srgbClr val="14532D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14532D"/>
                </a:solidFill>
                <a:latin typeface="Plus Jakarta Sans"/>
              </a:rPr>
              <a:t>giám</a:t>
            </a:r>
            <a:r>
              <a:rPr sz="1400" b="1" i="0" u="none" dirty="0">
                <a:solidFill>
                  <a:srgbClr val="14532D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14532D"/>
                </a:solidFill>
                <a:latin typeface="Plus Jakarta Sans"/>
              </a:rPr>
              <a:t>sát</a:t>
            </a:r>
            <a:r>
              <a:rPr sz="1400" b="1" i="0" u="none" dirty="0">
                <a:solidFill>
                  <a:srgbClr val="14532D"/>
                </a:solidFill>
                <a:latin typeface="Plus Jakarta Sans"/>
              </a:rPr>
              <a:t> (Supervised Regression)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4227165"/>
            <a:ext cx="18712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5803D"/>
                </a:solidFill>
                <a:latin typeface="Plus Jakarta Sans"/>
              </a:rPr>
              <a:t>BIẾN MỤC TIÊU (TARGET)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" y="4436715"/>
            <a:ext cx="25613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Plus Jakarta Sans"/>
              </a:rPr>
              <a:t>price — Giá rao bán xe (triệu VNĐ)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8950" y="1333500"/>
            <a:ext cx="293740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Plus Jakarta Sans"/>
              </a:rPr>
              <a:t>4 Biến định lượng (Numerical Features)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4650" y="1800225"/>
            <a:ext cx="4095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369A1"/>
                </a:solidFill>
                <a:latin typeface="Plus Jakarta Sans"/>
              </a:rPr>
              <a:t>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2825" y="1800225"/>
            <a:ext cx="9239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369A1"/>
                </a:solidFill>
                <a:latin typeface="Plus Jakarta Sans"/>
              </a:rPr>
              <a:t>driven_kms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5350" y="1800225"/>
            <a:ext cx="10858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369A1"/>
                </a:solidFill>
                <a:latin typeface="Plus Jakarta Sans"/>
              </a:rPr>
              <a:t>num_of_door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1800225"/>
            <a:ext cx="10477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0369A1"/>
                </a:solidFill>
                <a:latin typeface="Plus Jakarta Sans"/>
              </a:rPr>
              <a:t>num_of_seat</a:t>
            </a:r>
            <a:endParaRPr sz="1400" b="1" i="0" u="none" dirty="0">
              <a:solidFill>
                <a:srgbClr val="0369A1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77050" y="3881883"/>
            <a:ext cx="284045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Plus Jakarta Sans"/>
              </a:rPr>
              <a:t>6 </a:t>
            </a:r>
            <a:r>
              <a:rPr sz="1400" b="1" i="0" u="none" dirty="0" err="1">
                <a:solidFill>
                  <a:srgbClr val="0F172A"/>
                </a:solidFill>
                <a:latin typeface="Plus Jakarta Sans"/>
              </a:rPr>
              <a:t>Biến</a:t>
            </a:r>
            <a:r>
              <a:rPr sz="1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0F172A"/>
                </a:solidFill>
                <a:latin typeface="Plus Jakarta Sans"/>
              </a:rPr>
              <a:t>định</a:t>
            </a:r>
            <a:r>
              <a:rPr sz="1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0F172A"/>
                </a:solidFill>
                <a:latin typeface="Plus Jakarta Sans"/>
              </a:rPr>
              <a:t>tính</a:t>
            </a:r>
            <a:r>
              <a:rPr sz="1400" b="1" i="0" u="none" dirty="0">
                <a:solidFill>
                  <a:srgbClr val="0F172A"/>
                </a:solidFill>
                <a:latin typeface="Plus Jakarta Sans"/>
              </a:rPr>
              <a:t> (Categorical Features)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4650" y="4348608"/>
            <a:ext cx="4667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334155"/>
                </a:solidFill>
                <a:latin typeface="Plus Jakarta Sans"/>
              </a:rPr>
              <a:t>brand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0925" y="4348608"/>
            <a:ext cx="5048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334155"/>
                </a:solidFill>
                <a:latin typeface="Plus Jakarta Sans"/>
              </a:rPr>
              <a:t>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5300" y="4348608"/>
            <a:ext cx="4762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334155"/>
                </a:solidFill>
                <a:latin typeface="Plus Jakarta Sans"/>
              </a:rPr>
              <a:t>series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1100" y="4348608"/>
            <a:ext cx="13620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334155"/>
                </a:solidFill>
                <a:latin typeface="Plus Jakarta Sans"/>
              </a:rPr>
              <a:t>assemble_place</a:t>
            </a:r>
            <a:endParaRPr sz="1400" b="1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163175" y="4348608"/>
            <a:ext cx="9239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334155"/>
                </a:solidFill>
                <a:latin typeface="Plus Jakarta Sans"/>
              </a:rPr>
              <a:t>engine_type</a:t>
            </a:r>
            <a:endParaRPr sz="1400" b="1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24650" y="4710558"/>
            <a:ext cx="12001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334155"/>
                </a:solidFill>
                <a:latin typeface="Plus Jakarta Sans"/>
              </a:rPr>
              <a:t>transmission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24150"/>
            <a:ext cx="2676525" cy="2162175"/>
          </a:xfrm>
          <a:prstGeom prst="roundRect">
            <a:avLst>
              <a:gd name="adj" fmla="val 5286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Rounded Rectangle 2"/>
          <p:cNvSpPr/>
          <p:nvPr/>
        </p:nvSpPr>
        <p:spPr>
          <a:xfrm>
            <a:off x="3324225" y="2724150"/>
            <a:ext cx="2676525" cy="2162175"/>
          </a:xfrm>
          <a:prstGeom prst="roundRect">
            <a:avLst>
              <a:gd name="adj" fmla="val 52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" name="Rounded Rectangle 3"/>
          <p:cNvSpPr/>
          <p:nvPr/>
        </p:nvSpPr>
        <p:spPr>
          <a:xfrm>
            <a:off x="6191250" y="2724150"/>
            <a:ext cx="2676525" cy="2162175"/>
          </a:xfrm>
          <a:prstGeom prst="roundRect">
            <a:avLst>
              <a:gd name="adj" fmla="val 528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Rounded Rectangle 4"/>
          <p:cNvSpPr/>
          <p:nvPr/>
        </p:nvSpPr>
        <p:spPr>
          <a:xfrm>
            <a:off x="9058275" y="2638425"/>
            <a:ext cx="2676525" cy="2333625"/>
          </a:xfrm>
          <a:prstGeom prst="roundRect">
            <a:avLst>
              <a:gd name="adj" fmla="val 48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2" y="307657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087" y="307657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112" y="3076575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5087" y="2990850"/>
            <a:ext cx="3429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1 — TỔNG QUAN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Tổng quan Dữ liệu &amp; Chỉ số Chính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5249" y="3533775"/>
            <a:ext cx="108042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 dirty="0">
                <a:solidFill>
                  <a:srgbClr val="0F766E"/>
                </a:solidFill>
                <a:latin typeface="Plus Jakarta Sans"/>
              </a:rPr>
              <a:t>24.723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2538" y="4105275"/>
            <a:ext cx="98584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Bản ghi sạch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298" y="4362450"/>
            <a:ext cx="273632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Đã</a:t>
            </a:r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làm</a:t>
            </a:r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sạch</a:t>
            </a:r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từ</a:t>
            </a:r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 27.000+ </a:t>
            </a:r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dữ</a:t>
            </a:r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liệu</a:t>
            </a:r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thô</a:t>
            </a:r>
            <a:endParaRPr sz="15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66921" y="3533775"/>
            <a:ext cx="39113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369A1"/>
                </a:solidFill>
                <a:latin typeface="Plus Jakarta Sans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2290" y="4105275"/>
            <a:ext cx="120039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Trường 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3535" y="4362450"/>
            <a:ext cx="263790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4 </a:t>
            </a:r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định</a:t>
            </a:r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lượng</a:t>
            </a:r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, 6 </a:t>
            </a:r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định</a:t>
            </a:r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tính</a:t>
            </a:r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, 1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9299" y="3533775"/>
            <a:ext cx="108042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15803D"/>
                </a:solidFill>
                <a:latin typeface="Plus Jakarta Sans"/>
              </a:rPr>
              <a:t>0.9772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777" y="4105275"/>
            <a:ext cx="128746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R² Test Cao nhất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7594" y="4362450"/>
            <a:ext cx="276383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Plus Jakarta Sans"/>
              </a:rPr>
              <a:t>Mô hình Support Vector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3740" y="3581400"/>
            <a:ext cx="284559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 dirty="0">
                <a:solidFill>
                  <a:srgbClr val="4F46E5"/>
                </a:solidFill>
                <a:latin typeface="Plus Jakarta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3740" y="4019550"/>
            <a:ext cx="28455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Mô hình So sánh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3740" y="4276725"/>
            <a:ext cx="28455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SVR, Linear, Random Forest, Decision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6427" y="5312566"/>
            <a:ext cx="4909691" cy="871537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68460" y="4867273"/>
            <a:ext cx="4909691" cy="871537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68460" y="5929311"/>
            <a:ext cx="4909691" cy="871537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6427" y="5312566"/>
            <a:ext cx="38100" cy="871537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68460" y="4867273"/>
            <a:ext cx="38100" cy="8715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68460" y="5929311"/>
            <a:ext cx="38100" cy="87153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77" y="5464966"/>
            <a:ext cx="147637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010" y="5019673"/>
            <a:ext cx="100012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010" y="6081711"/>
            <a:ext cx="128587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0622" y="116681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D9488"/>
                </a:solidFill>
                <a:latin typeface="Plus Jakarta Sans"/>
              </a:rPr>
              <a:t>CHƯƠNG 2 — PHÂN TÍCH KHÁM PHÁ DỮ LIỆU (EDA)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527" y="295275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EDA 01 —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Phân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bố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Biến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Mục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tiêu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(Price)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977" y="5445916"/>
            <a:ext cx="5157341" cy="152400"/>
          </a:xfrm>
          <a:prstGeom prst="rect">
            <a:avLst/>
          </a:prstGeom>
          <a:noFill/>
        </p:spPr>
        <p:txBody>
          <a:bodyPr wrap="none" lIns="1476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Plus Jakarta Sans"/>
              </a:rPr>
              <a:t>HÌNH CHO THẤY GÌ?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977" y="5636416"/>
            <a:ext cx="4623941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293B"/>
                </a:solidFill>
                <a:latin typeface="Plus Jakarta Sans"/>
              </a:rPr>
              <a:t>Giá xe gốc lệch phải rất mạnh (median ~570 triệu, đuôi kéo dài đến hàng chục tỷ). Sau log1p, phân bố cân bằng dạng chuông.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010" y="5000623"/>
            <a:ext cx="5157341" cy="152400"/>
          </a:xfrm>
          <a:prstGeom prst="rect">
            <a:avLst/>
          </a:prstGeom>
          <a:noFill/>
        </p:spPr>
        <p:txBody>
          <a:bodyPr wrap="none" lIns="100012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Ý NGHĨA VỚI BÀI TOÁN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8010" y="5191123"/>
            <a:ext cx="4623941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293B"/>
                </a:solidFill>
                <a:latin typeface="Plus Jakarta Sans"/>
              </a:rPr>
              <a:t>Huấn luyện trực tiếp trên price gốc khiến mô hình bị ảnh hưởng nặng bởi các siêu xe / outlier giá cao.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8010" y="6062661"/>
            <a:ext cx="5157341" cy="152400"/>
          </a:xfrm>
          <a:prstGeom prst="rect">
            <a:avLst/>
          </a:prstGeom>
          <a:noFill/>
        </p:spPr>
        <p:txBody>
          <a:bodyPr wrap="none" lIns="12858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Plus Jakarta Sans"/>
              </a:rPr>
              <a:t>QUYẾT ĐỊNH XỬ LÝ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8010" y="6253161"/>
            <a:ext cx="4623941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293B"/>
                </a:solidFill>
                <a:latin typeface="Plus Jakarta Sans"/>
              </a:rPr>
              <a:t>Biến đổi target bằng </a:t>
            </a:r>
            <a:r>
              <a:rPr sz="1125" b="1" i="0" u="none">
                <a:solidFill>
                  <a:srgbClr val="1E293B"/>
                </a:solidFill>
                <a:latin typeface="Plus Jakarta Sans"/>
              </a:rPr>
              <a:t>log1p</a:t>
            </a:r>
            <a:r>
              <a:rPr sz="1125" b="0" i="0" u="none">
                <a:solidFill>
                  <a:srgbClr val="1E293B"/>
                </a:solidFill>
                <a:latin typeface="Plus Jakarta Sans"/>
              </a:rPr>
              <a:t> qua TransformedTargetRegressor. Dự đoán dùng </a:t>
            </a:r>
            <a:r>
              <a:rPr sz="1125" b="1" i="0" u="none">
                <a:solidFill>
                  <a:srgbClr val="1E293B"/>
                </a:solidFill>
                <a:latin typeface="Plus Jakarta Sans"/>
              </a:rPr>
              <a:t>expm1</a:t>
            </a:r>
            <a:r>
              <a:rPr sz="1125" b="0" i="0" u="none">
                <a:solidFill>
                  <a:srgbClr val="1E293B"/>
                </a:solidFill>
                <a:latin typeface="Plus Jakarta Sans"/>
              </a:rPr>
              <a:t> đưa về giá gốc. MAE, RMSE tính trên triệu VNĐ.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74C9A3A-3F12-465F-3A82-CF42F0DE3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27" y="620122"/>
            <a:ext cx="10102149" cy="4218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1273" y="5545677"/>
            <a:ext cx="4909691" cy="871537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34658" y="4984909"/>
            <a:ext cx="4909691" cy="871537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34658" y="5894546"/>
            <a:ext cx="4909691" cy="871537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1273" y="5545677"/>
            <a:ext cx="38100" cy="871537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34658" y="4984909"/>
            <a:ext cx="38100" cy="8715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34658" y="5894546"/>
            <a:ext cx="38100" cy="87153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823" y="5698077"/>
            <a:ext cx="147637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208" y="5137309"/>
            <a:ext cx="100012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208" y="6046946"/>
            <a:ext cx="128587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2 — PHÂN TÍCH KHÁM PHÁ DỮ LIỆU (EDA)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EDA 02 — Phân bố &amp; Ngoại lai các Biến số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823" y="5679027"/>
            <a:ext cx="5157341" cy="152400"/>
          </a:xfrm>
          <a:prstGeom prst="rect">
            <a:avLst/>
          </a:prstGeom>
          <a:noFill/>
        </p:spPr>
        <p:txBody>
          <a:bodyPr wrap="none" lIns="1476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Plus Jakarta Sans"/>
              </a:rPr>
              <a:t>HÌNH CHO THẤY GÌ?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823" y="5869527"/>
            <a:ext cx="4623941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293B"/>
                </a:solidFill>
                <a:latin typeface="Plus Jakarta Sans"/>
              </a:rPr>
              <a:t>driven_kms có giá trị đột biến &gt; 1.000.000 km. year tập trung chủ yếu từ 2005–2023. price xuất hiện nhiều điểm ngoại lai cực cao.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4214" y="5137309"/>
            <a:ext cx="5157341" cy="152400"/>
          </a:xfrm>
          <a:prstGeom prst="rect">
            <a:avLst/>
          </a:prstGeom>
          <a:noFill/>
        </p:spPr>
        <p:txBody>
          <a:bodyPr wrap="none" lIns="100012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369A1"/>
                </a:solidFill>
                <a:latin typeface="Plus Jakarta Sans"/>
              </a:rPr>
              <a:t>Ý NGHĨA VỚI BÀI TOÁN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4208" y="5308759"/>
            <a:ext cx="4623941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293B"/>
                </a:solidFill>
                <a:latin typeface="Plus Jakarta Sans"/>
              </a:rPr>
              <a:t>Cần chặn ngưỡng hợp lý để loại bỏ dữ liệu cào lỗi / nhập sai, tránh làm sai lệch đường cong học của mô hình.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4208" y="6027896"/>
            <a:ext cx="5157341" cy="152400"/>
          </a:xfrm>
          <a:prstGeom prst="rect">
            <a:avLst/>
          </a:prstGeom>
          <a:noFill/>
        </p:spPr>
        <p:txBody>
          <a:bodyPr wrap="none" lIns="12858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Plus Jakarta Sans"/>
              </a:rPr>
              <a:t>QUYẾT ĐỊNH XỬ LÝ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4208" y="6218396"/>
            <a:ext cx="4623941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293B"/>
                </a:solidFill>
                <a:latin typeface="Plus Jakarta Sans"/>
              </a:rPr>
              <a:t>Lọc giữ bản ghi: driven_kms ≤ 1.000.000 km, price ∈ [30 triệu, 60 tỷ VNĐ], num_of_door ∈ [2, 6], num_of_seat ∈ [2, 16].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ED9F93D-854F-9C2E-02EB-E22369D68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13490"/>
            <a:ext cx="11114286" cy="40476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5726349"/>
            <a:ext cx="4909691" cy="871537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67911" y="4854812"/>
            <a:ext cx="4909691" cy="871537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67911" y="5916850"/>
            <a:ext cx="4909691" cy="871537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5726349"/>
            <a:ext cx="38100" cy="871537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67911" y="4854812"/>
            <a:ext cx="38100" cy="8715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67911" y="5916850"/>
            <a:ext cx="38100" cy="87153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5878749"/>
            <a:ext cx="147637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461" y="5007212"/>
            <a:ext cx="100012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461" y="6069250"/>
            <a:ext cx="128587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2 — PHÂN TÍCH KHÁM PHÁ DỮ LIỆU (EDA)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EDA 03 — Ma trận Tương quan &amp; Dữ liệu Khuyết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5859699"/>
            <a:ext cx="5157341" cy="152400"/>
          </a:xfrm>
          <a:prstGeom prst="rect">
            <a:avLst/>
          </a:prstGeom>
          <a:noFill/>
        </p:spPr>
        <p:txBody>
          <a:bodyPr wrap="none" lIns="1476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Plus Jakarta Sans"/>
              </a:rPr>
              <a:t>HÌNH CHO THẤY GÌ?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6050199"/>
            <a:ext cx="4623941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293B"/>
                </a:solidFill>
                <a:latin typeface="Plus Jakarta Sans"/>
              </a:rPr>
              <a:t>Tỷ lệ khuyết thiếu thấp (&lt; vài %). Heatmap: year tương quan dương (0.21), driven_kms tương quan âm (−0.17) với price.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7461" y="4988162"/>
            <a:ext cx="5157341" cy="152400"/>
          </a:xfrm>
          <a:prstGeom prst="rect">
            <a:avLst/>
          </a:prstGeom>
          <a:noFill/>
        </p:spPr>
        <p:txBody>
          <a:bodyPr wrap="none" lIns="100012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Ý NGHĨA VỚI BÀI TOÁN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7461" y="5178662"/>
            <a:ext cx="4623941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293B"/>
                </a:solidFill>
                <a:latin typeface="Plus Jakarta Sans"/>
              </a:rPr>
              <a:t>Dữ liệu chất lượng tốt. Các biến số có liên hệ tuyến tính hợp lý với giá xe và không bị đa cộng tuyến nghiêm trọng.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7461" y="6050200"/>
            <a:ext cx="5157341" cy="152400"/>
          </a:xfrm>
          <a:prstGeom prst="rect">
            <a:avLst/>
          </a:prstGeom>
          <a:noFill/>
        </p:spPr>
        <p:txBody>
          <a:bodyPr wrap="none" lIns="12858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Plus Jakarta Sans"/>
              </a:rPr>
              <a:t>QUYẾT ĐỊNH XỬ LÝ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7461" y="6240700"/>
            <a:ext cx="4623941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293B"/>
                </a:solidFill>
                <a:latin typeface="Plus Jakarta Sans"/>
              </a:rPr>
              <a:t>Loại bỏ dòng chứa missing values ở trường quan trọng. Giữ 4 biến số và chuẩn hóa qua </a:t>
            </a:r>
            <a:r>
              <a:rPr sz="1125" b="1" i="0" u="none">
                <a:solidFill>
                  <a:srgbClr val="1E293B"/>
                </a:solidFill>
                <a:latin typeface="Plus Jakarta Sans"/>
              </a:rPr>
              <a:t>StandardScaler</a:t>
            </a:r>
            <a:r>
              <a:rPr sz="1125" b="0" i="0" u="none">
                <a:solidFill>
                  <a:srgbClr val="1E293B"/>
                </a:solidFill>
                <a:latin typeface="Plus Jakarta Sans"/>
              </a:rPr>
              <a:t>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20BD263-E3AA-D649-B283-CECA180FCC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568"/>
          <a:stretch>
            <a:fillRect/>
          </a:stretch>
        </p:blipFill>
        <p:spPr>
          <a:xfrm>
            <a:off x="1933475" y="998735"/>
            <a:ext cx="8176525" cy="3842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882508" y="1000125"/>
            <a:ext cx="2985643" cy="1343309"/>
          </a:xfrm>
          <a:prstGeom prst="roundRect">
            <a:avLst>
              <a:gd name="adj" fmla="val 706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882507" y="2921983"/>
            <a:ext cx="2947651" cy="871537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82509" y="4322442"/>
            <a:ext cx="2947650" cy="1310153"/>
          </a:xfrm>
          <a:prstGeom prst="roundRect">
            <a:avLst>
              <a:gd name="adj" fmla="val 706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82508" y="1173956"/>
            <a:ext cx="38100" cy="107870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82506" y="2921983"/>
            <a:ext cx="45719" cy="8715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82507" y="4322442"/>
            <a:ext cx="45719" cy="1310153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058" y="1326356"/>
            <a:ext cx="147637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057" y="3074383"/>
            <a:ext cx="6004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058" y="4474843"/>
            <a:ext cx="156177" cy="1503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295275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2 — PHÂN TÍCH KHÁM PHÁ DỮ LIỆU (EDA)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47" y="571358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EDA 04 — Phân bố Giá theo Hãng xe (Brand)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2058" y="1307306"/>
            <a:ext cx="5157341" cy="152400"/>
          </a:xfrm>
          <a:prstGeom prst="rect">
            <a:avLst/>
          </a:prstGeom>
          <a:noFill/>
        </p:spPr>
        <p:txBody>
          <a:bodyPr wrap="none" lIns="1476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Plus Jakarta Sans"/>
              </a:rPr>
              <a:t>HÌNH CHO THẤY GÌ?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2058" y="1497806"/>
            <a:ext cx="2566543" cy="807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12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hãng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xe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phổ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biến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thể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hiện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phân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khúc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giá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rõ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rệt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. Lexus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và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Mercedes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nằm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ở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phân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khúc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hạng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sang; Hyundai, Chevrolet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thuộc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phân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khúc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phổ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E293B"/>
                </a:solidFill>
                <a:latin typeface="Plus Jakarta Sans"/>
              </a:rPr>
              <a:t>thông</a:t>
            </a:r>
            <a:r>
              <a:rPr sz="1125" b="0" i="0" u="none" dirty="0">
                <a:solidFill>
                  <a:srgbClr val="1E293B"/>
                </a:solidFill>
                <a:latin typeface="Plus Jakarta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2079" y="3102958"/>
            <a:ext cx="5157341" cy="152400"/>
          </a:xfrm>
          <a:prstGeom prst="rect">
            <a:avLst/>
          </a:prstGeom>
          <a:noFill/>
        </p:spPr>
        <p:txBody>
          <a:bodyPr wrap="none" lIns="100012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369A1"/>
                </a:solidFill>
                <a:latin typeface="Plus Jakarta Sans"/>
              </a:rPr>
              <a:t>Ý NGHĨA VỚI BÀI TOÁN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2058" y="3245833"/>
            <a:ext cx="2776094" cy="3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293B"/>
                </a:solidFill>
                <a:latin typeface="Plus Jakarta Sans"/>
              </a:rPr>
              <a:t>Thương hiệu (brand) là đặc trưng phân loại mang giá trị thông tin rất cao để định giá xe.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5111" y="4455792"/>
            <a:ext cx="3096332" cy="150041"/>
          </a:xfrm>
          <a:prstGeom prst="rect">
            <a:avLst/>
          </a:prstGeom>
          <a:noFill/>
        </p:spPr>
        <p:txBody>
          <a:bodyPr wrap="square" lIns="128587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5803D"/>
                </a:solidFill>
                <a:latin typeface="Plus Jakarta Sans"/>
              </a:rPr>
              <a:t>QUYẾT ĐỊNH XỬ LÝ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2058" y="4646293"/>
            <a:ext cx="2776093" cy="602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293B"/>
                </a:solidFill>
                <a:latin typeface="Plus Jakarta Sans"/>
              </a:rPr>
              <a:t>Mã hóa biến brand bằng </a:t>
            </a:r>
            <a:r>
              <a:rPr sz="1125" b="1" i="0" u="none">
                <a:solidFill>
                  <a:srgbClr val="1E293B"/>
                </a:solidFill>
                <a:latin typeface="Plus Jakarta Sans"/>
              </a:rPr>
              <a:t>OneHotEncoder(handle_unknown='ignore')</a:t>
            </a:r>
            <a:r>
              <a:rPr sz="1125" b="0" i="0" u="none">
                <a:solidFill>
                  <a:srgbClr val="1E293B"/>
                </a:solidFill>
                <a:latin typeface="Plus Jakarta Sans"/>
              </a:rPr>
              <a:t> trong pipeline categorical.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3C810F6-85B9-3D6F-C9C9-4D5ADF673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49" y="1545431"/>
            <a:ext cx="8271773" cy="40252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61915" y="1380717"/>
            <a:ext cx="2963384" cy="1350017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980966" y="3028949"/>
            <a:ext cx="2963385" cy="1133474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961916" y="4652960"/>
            <a:ext cx="2963385" cy="1276350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80966" y="1708620"/>
            <a:ext cx="38100" cy="871537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70332" y="3148011"/>
            <a:ext cx="45719" cy="8715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61915" y="4720826"/>
            <a:ext cx="45719" cy="87153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797" y="1672106"/>
            <a:ext cx="147637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466" y="3086099"/>
            <a:ext cx="6036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467" y="4805360"/>
            <a:ext cx="77612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2 — PHÂN TÍCH KHÁM PHÁ DỮ LIỆU (EDA)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EDA 05 — Ảnh hưởng của Hộp số &amp; Nơi lắp ráp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67" y="1558750"/>
            <a:ext cx="1734769" cy="230832"/>
          </a:xfrm>
          <a:prstGeom prst="rect">
            <a:avLst/>
          </a:prstGeom>
          <a:noFill/>
        </p:spPr>
        <p:txBody>
          <a:bodyPr wrap="none" lIns="147637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766E"/>
                </a:solidFill>
                <a:latin typeface="Plus Jakarta Sans"/>
              </a:rPr>
              <a:t>HÌNH CHO THẤY GÌ?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4797" y="1813394"/>
            <a:ext cx="2649059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Xe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số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tự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động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có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trung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vị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giá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cao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hơn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xe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số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tay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. Xe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nhập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khẩu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nguyên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chiếc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có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trung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vị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giá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cao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hơn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xe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lắp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ráp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trong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nước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66" y="3067049"/>
            <a:ext cx="3112861" cy="230832"/>
          </a:xfrm>
          <a:prstGeom prst="rect">
            <a:avLst/>
          </a:prstGeom>
          <a:noFill/>
        </p:spPr>
        <p:txBody>
          <a:bodyPr wrap="square" lIns="10001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Ý NGHĨA VỚI BÀI TOÁN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67" y="3400424"/>
            <a:ext cx="279091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Các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yếu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tố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kỹ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thuật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(transmission,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assemble_place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,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engine_type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)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có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tác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động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phân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loại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giá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rõ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rệt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66" y="4786310"/>
            <a:ext cx="3112861" cy="230832"/>
          </a:xfrm>
          <a:prstGeom prst="rect">
            <a:avLst/>
          </a:prstGeom>
          <a:noFill/>
        </p:spPr>
        <p:txBody>
          <a:bodyPr wrap="square" lIns="128587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5803D"/>
                </a:solidFill>
                <a:latin typeface="Plus Jakarta Sans"/>
              </a:rPr>
              <a:t>QUYẾT ĐỊNH XỬ LÝ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67" y="4976810"/>
            <a:ext cx="279091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Đưa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toàn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bộ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biến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phân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loại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này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vào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nhánh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biến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đổi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Categorical Pipeline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xử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lý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đồng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Plus Jakarta Sans"/>
              </a:rPr>
              <a:t>bộ</a:t>
            </a:r>
            <a:r>
              <a:rPr sz="1500" b="0" i="0" u="none" dirty="0">
                <a:solidFill>
                  <a:srgbClr val="1E293B"/>
                </a:solidFill>
                <a:latin typeface="Plus Jakarta Sans"/>
              </a:rPr>
              <a:t>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9D86D2D-B86E-4B8B-C5BA-4804BC725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59" y="1668778"/>
            <a:ext cx="8723259" cy="39807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E5925-8E56-1102-A2A0-64DD4FAA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EF5B60-B170-3292-C473-01EDAB643F41}"/>
              </a:ext>
            </a:extLst>
          </p:cNvPr>
          <p:cNvSpPr/>
          <p:nvPr/>
        </p:nvSpPr>
        <p:spPr>
          <a:xfrm>
            <a:off x="9000016" y="1107281"/>
            <a:ext cx="2963384" cy="1733549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CE2E3C4-6A71-0780-61B6-073A81C69361}"/>
              </a:ext>
            </a:extLst>
          </p:cNvPr>
          <p:cNvSpPr/>
          <p:nvPr/>
        </p:nvSpPr>
        <p:spPr>
          <a:xfrm>
            <a:off x="8980966" y="2900333"/>
            <a:ext cx="2963385" cy="1605170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4D09A17-185B-81A7-B42D-3377E64922CE}"/>
              </a:ext>
            </a:extLst>
          </p:cNvPr>
          <p:cNvSpPr/>
          <p:nvPr/>
        </p:nvSpPr>
        <p:spPr>
          <a:xfrm>
            <a:off x="8961916" y="4652960"/>
            <a:ext cx="2963385" cy="2014540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F2F0DD-6E45-E697-0878-6628348AE2D9}"/>
              </a:ext>
            </a:extLst>
          </p:cNvPr>
          <p:cNvSpPr/>
          <p:nvPr/>
        </p:nvSpPr>
        <p:spPr>
          <a:xfrm>
            <a:off x="8961916" y="1181072"/>
            <a:ext cx="38100" cy="871537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85E53-BE17-135F-F6FF-CFCF64889647}"/>
              </a:ext>
            </a:extLst>
          </p:cNvPr>
          <p:cNvSpPr/>
          <p:nvPr/>
        </p:nvSpPr>
        <p:spPr>
          <a:xfrm>
            <a:off x="8961915" y="2933699"/>
            <a:ext cx="45719" cy="8715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AB90E0-12BD-669C-8E6D-C9A9CBE73C35}"/>
              </a:ext>
            </a:extLst>
          </p:cNvPr>
          <p:cNvSpPr/>
          <p:nvPr/>
        </p:nvSpPr>
        <p:spPr>
          <a:xfrm>
            <a:off x="8961915" y="4652960"/>
            <a:ext cx="45719" cy="87153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8813742F-5728-9352-617B-8FA57292F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634" y="1352552"/>
            <a:ext cx="147637" cy="123825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C626BB90-8144-54CD-5BF4-622BEB030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466" y="3086099"/>
            <a:ext cx="60365" cy="123825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94A637EB-8DAB-3BDE-1781-DA28E1402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467" y="4805360"/>
            <a:ext cx="77612" cy="1238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C39BFF-4963-BC5A-4727-C7B223974489}"/>
              </a:ext>
            </a:extLst>
          </p:cNvPr>
          <p:cNvSpPr txBox="1"/>
          <p:nvPr/>
        </p:nvSpPr>
        <p:spPr>
          <a:xfrm>
            <a:off x="457200" y="381000"/>
            <a:ext cx="4267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2 — PHÂN TÍCH KHÁM PHÁ DỮ LIỆU (EDA)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833B6E-BE29-D45D-B3D4-84911125C952}"/>
              </a:ext>
            </a:extLst>
          </p:cNvPr>
          <p:cNvSpPr txBox="1"/>
          <p:nvPr/>
        </p:nvSpPr>
        <p:spPr>
          <a:xfrm>
            <a:off x="457200" y="609600"/>
            <a:ext cx="635443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EDA 0</a:t>
            </a:r>
            <a:r>
              <a:rPr lang="en-US" sz="2100" b="1" i="0" u="none" dirty="0">
                <a:solidFill>
                  <a:srgbClr val="0F172A"/>
                </a:solidFill>
                <a:latin typeface="Plus Jakarta Sans"/>
              </a:rPr>
              <a:t>6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— </a:t>
            </a:r>
            <a:r>
              <a:rPr lang="vi-VN" sz="2400" dirty="0"/>
              <a:t>Quan hệ số </a:t>
            </a:r>
            <a:r>
              <a:rPr lang="vi-VN" sz="2400" dirty="0" err="1"/>
              <a:t>km</a:t>
            </a:r>
            <a:r>
              <a:rPr lang="vi-VN" sz="2400" dirty="0"/>
              <a:t> / năm sản xuất với giá</a:t>
            </a:r>
            <a:endParaRPr sz="21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7267E-5980-B65F-B3BA-6CD3A3B855D5}"/>
              </a:ext>
            </a:extLst>
          </p:cNvPr>
          <p:cNvSpPr txBox="1"/>
          <p:nvPr/>
        </p:nvSpPr>
        <p:spPr>
          <a:xfrm>
            <a:off x="9007634" y="1309688"/>
            <a:ext cx="5157341" cy="152400"/>
          </a:xfrm>
          <a:prstGeom prst="rect">
            <a:avLst/>
          </a:prstGeom>
          <a:noFill/>
        </p:spPr>
        <p:txBody>
          <a:bodyPr wrap="none" lIns="147637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F766E"/>
                </a:solidFill>
                <a:latin typeface="Plus Jakarta Sans"/>
              </a:rPr>
              <a:t>HÌNH CHO THẤY GÌ?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D29D43-CBBF-C054-514A-FA68A86223FA}"/>
              </a:ext>
            </a:extLst>
          </p:cNvPr>
          <p:cNvSpPr txBox="1"/>
          <p:nvPr/>
        </p:nvSpPr>
        <p:spPr>
          <a:xfrm>
            <a:off x="9090599" y="1571627"/>
            <a:ext cx="2649059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vi-VN" sz="1300" dirty="0"/>
              <a:t>Giá xe có xu hướng </a:t>
            </a:r>
            <a:r>
              <a:rPr lang="vi-VN" sz="1300" b="1" dirty="0"/>
              <a:t>giảm khi số </a:t>
            </a:r>
            <a:r>
              <a:rPr lang="vi-VN" sz="1300" b="1" dirty="0" err="1"/>
              <a:t>km</a:t>
            </a:r>
            <a:r>
              <a:rPr lang="vi-VN" sz="1300" b="1" dirty="0"/>
              <a:t> đã đi tăng</a:t>
            </a:r>
            <a:r>
              <a:rPr lang="vi-VN" sz="1300" dirty="0"/>
              <a:t>, với mối quan hệ phi tuyến.</a:t>
            </a:r>
          </a:p>
          <a:p>
            <a:pPr lvl="0"/>
            <a:r>
              <a:rPr lang="vi-VN" sz="1300" dirty="0"/>
              <a:t>Xe có </a:t>
            </a:r>
            <a:r>
              <a:rPr lang="vi-VN" sz="1300" b="1" dirty="0"/>
              <a:t>năm sản xuất càng mới</a:t>
            </a:r>
            <a:r>
              <a:rPr lang="vi-VN" sz="1300" dirty="0"/>
              <a:t> thường có mức giá cao hơn rõ rệt.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04D41-69FF-14E6-D505-998FE3367E44}"/>
              </a:ext>
            </a:extLst>
          </p:cNvPr>
          <p:cNvSpPr txBox="1"/>
          <p:nvPr/>
        </p:nvSpPr>
        <p:spPr>
          <a:xfrm>
            <a:off x="9171466" y="3067049"/>
            <a:ext cx="3112861" cy="200055"/>
          </a:xfrm>
          <a:prstGeom prst="rect">
            <a:avLst/>
          </a:prstGeom>
          <a:noFill/>
        </p:spPr>
        <p:txBody>
          <a:bodyPr wrap="square" lIns="100012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369A1"/>
                </a:solidFill>
                <a:latin typeface="Plus Jakarta Sans"/>
              </a:rPr>
              <a:t>Ý NGHĨA VỚI BÀI TOÁN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33257E-D015-0C36-7647-8412692B2F01}"/>
              </a:ext>
            </a:extLst>
          </p:cNvPr>
          <p:cNvSpPr txBox="1"/>
          <p:nvPr/>
        </p:nvSpPr>
        <p:spPr>
          <a:xfrm>
            <a:off x="9171467" y="3257549"/>
            <a:ext cx="2790912" cy="1200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vi-VN" sz="1300" dirty="0"/>
              <a:t>Mối quan hệ phi tuyến cho thấy các mô hình như </a:t>
            </a:r>
            <a:r>
              <a:rPr lang="vi-VN" sz="1300" dirty="0" err="1"/>
              <a:t>Decision</a:t>
            </a:r>
            <a:r>
              <a:rPr lang="vi-VN" sz="1300" dirty="0"/>
              <a:t> </a:t>
            </a:r>
            <a:r>
              <a:rPr lang="vi-VN" sz="1300" dirty="0" err="1"/>
              <a:t>Tree</a:t>
            </a:r>
            <a:r>
              <a:rPr lang="vi-VN" sz="1300" dirty="0"/>
              <a:t>, </a:t>
            </a:r>
            <a:r>
              <a:rPr lang="vi-VN" sz="1300" dirty="0" err="1"/>
              <a:t>Random</a:t>
            </a:r>
            <a:r>
              <a:rPr lang="vi-VN" sz="1300" dirty="0"/>
              <a:t> </a:t>
            </a:r>
            <a:r>
              <a:rPr lang="vi-VN" sz="1300" dirty="0" err="1"/>
              <a:t>Forest</a:t>
            </a:r>
            <a:r>
              <a:rPr lang="vi-VN" sz="1300" dirty="0"/>
              <a:t> và SVR với </a:t>
            </a:r>
            <a:r>
              <a:rPr lang="vi-VN" sz="1300" dirty="0" err="1"/>
              <a:t>kernel</a:t>
            </a:r>
            <a:r>
              <a:rPr lang="vi-VN" sz="1300" dirty="0"/>
              <a:t> RBF có khả năng mô hình hóa quan hệ giữa đặc trưng và giá xe tốt hơn mô hình tuyến tính trong một số trường hợp.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BF38F1-CF93-9D78-97D6-45968C2A5F50}"/>
              </a:ext>
            </a:extLst>
          </p:cNvPr>
          <p:cNvSpPr txBox="1"/>
          <p:nvPr/>
        </p:nvSpPr>
        <p:spPr>
          <a:xfrm>
            <a:off x="9171466" y="4786310"/>
            <a:ext cx="3112861" cy="200055"/>
          </a:xfrm>
          <a:prstGeom prst="rect">
            <a:avLst/>
          </a:prstGeom>
          <a:noFill/>
        </p:spPr>
        <p:txBody>
          <a:bodyPr wrap="square" lIns="128587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15803D"/>
                </a:solidFill>
                <a:latin typeface="Plus Jakarta Sans"/>
              </a:rPr>
              <a:t>QUYẾT ĐỊNH XỬ LÝ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84CB82-203B-88D0-E306-552A67810BEC}"/>
              </a:ext>
            </a:extLst>
          </p:cNvPr>
          <p:cNvSpPr txBox="1"/>
          <p:nvPr/>
        </p:nvSpPr>
        <p:spPr>
          <a:xfrm>
            <a:off x="9171467" y="4976810"/>
            <a:ext cx="2790912" cy="1600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vi-VN" sz="1300" dirty="0"/>
              <a:t>Huấn luyện cả </a:t>
            </a:r>
            <a:r>
              <a:rPr lang="vi-VN" sz="1300" b="1" dirty="0" err="1"/>
              <a:t>Linear</a:t>
            </a:r>
            <a:r>
              <a:rPr lang="vi-VN" sz="1300" b="1" dirty="0"/>
              <a:t> </a:t>
            </a:r>
            <a:r>
              <a:rPr lang="vi-VN" sz="1300" b="1" dirty="0" err="1"/>
              <a:t>Regression</a:t>
            </a:r>
            <a:r>
              <a:rPr lang="vi-VN" sz="1300" b="1" dirty="0"/>
              <a:t> (</a:t>
            </a:r>
            <a:r>
              <a:rPr lang="vi-VN" sz="1300" b="1" dirty="0" err="1"/>
              <a:t>baseline</a:t>
            </a:r>
            <a:r>
              <a:rPr lang="vi-VN" sz="1300" b="1" dirty="0"/>
              <a:t>)</a:t>
            </a:r>
            <a:r>
              <a:rPr lang="vi-VN" sz="1300" dirty="0"/>
              <a:t> và các mô hình </a:t>
            </a:r>
            <a:r>
              <a:rPr lang="vi-VN" sz="1300" b="1" dirty="0"/>
              <a:t>phi tuyến</a:t>
            </a:r>
            <a:r>
              <a:rPr lang="vi-VN" sz="1300" dirty="0"/>
              <a:t> để thực nghiệm và so sánh trên cùng tập </a:t>
            </a:r>
            <a:r>
              <a:rPr lang="vi-VN" sz="1300" dirty="0" err="1"/>
              <a:t>Test</a:t>
            </a:r>
            <a:r>
              <a:rPr lang="vi-VN" sz="1300" dirty="0"/>
              <a:t>.</a:t>
            </a:r>
          </a:p>
          <a:p>
            <a:pPr lvl="0"/>
            <a:r>
              <a:rPr lang="vi-VN" sz="1300" dirty="0"/>
              <a:t>Áp dụng </a:t>
            </a:r>
            <a:r>
              <a:rPr lang="vi-VN" sz="1300" b="1" dirty="0"/>
              <a:t>log1p(</a:t>
            </a:r>
            <a:r>
              <a:rPr lang="vi-VN" sz="1300" b="1" dirty="0" err="1"/>
              <a:t>price</a:t>
            </a:r>
            <a:r>
              <a:rPr lang="vi-VN" sz="1300" b="1" dirty="0"/>
              <a:t>)</a:t>
            </a:r>
            <a:r>
              <a:rPr lang="vi-VN" sz="1300" dirty="0"/>
              <a:t> để giảm độ lệch của biến mục tiêu và hạn chế ảnh hưởng của các giá trị giá xe rất lớn.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267F878-809D-4947-9344-DE51A025B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32" y="1681519"/>
            <a:ext cx="8723259" cy="398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988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552825"/>
            <a:ext cx="11277600" cy="1114425"/>
          </a:xfrm>
          <a:prstGeom prst="roundRect">
            <a:avLst>
              <a:gd name="adj" fmla="val 10256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943225"/>
            <a:ext cx="1609725" cy="419100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390775" y="2943225"/>
            <a:ext cx="1609725" cy="41910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24350" y="2943225"/>
            <a:ext cx="1609725" cy="41910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57925" y="2943225"/>
            <a:ext cx="1609725" cy="41910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91500" y="2943225"/>
            <a:ext cx="1609725" cy="41910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25075" y="2943225"/>
            <a:ext cx="1609725" cy="419100"/>
          </a:xfrm>
          <a:prstGeom prst="roundRect">
            <a:avLst>
              <a:gd name="adj" fmla="val 18181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0" y="3943350"/>
            <a:ext cx="2238375" cy="333375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307657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076575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25" y="3076575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00" y="3076575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6475" y="3076575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4171950"/>
            <a:ext cx="17145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2 — TIỀN XỬ LÝ 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Tổng quan Quy trình Tiền xử lý Dữ liệu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384" y="3076575"/>
            <a:ext cx="170735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Plus Jakarta Sans"/>
              </a:rPr>
              <a:t>CSV Thô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1959" y="3076575"/>
            <a:ext cx="170735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Khám phá 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5534" y="3076575"/>
            <a:ext cx="170735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Lọc Outliers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9109" y="3076575"/>
            <a:ext cx="170735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Encoding +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684" y="3076575"/>
            <a:ext cx="170735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Target Trans.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6259" y="3076575"/>
            <a:ext cx="170735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Plus Jakarta Sans"/>
              </a:rPr>
              <a:t>Train/Test 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3829050"/>
            <a:ext cx="6834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766E"/>
                </a:solidFill>
                <a:latin typeface="Plus Jakarta Sans"/>
              </a:rPr>
              <a:t>KẾT QUẢ LÀM SẠCH DỮ LIỆU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4057650"/>
            <a:ext cx="6834187" cy="333375"/>
          </a:xfrm>
          <a:prstGeom prst="rect">
            <a:avLst/>
          </a:prstGeom>
          <a:noFill/>
        </p:spPr>
        <p:txBody>
          <a:bodyPr wrap="none" lIns="40005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27.000+ Dòng thô 24.723 Bản ghi sạch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1150" y="4019550"/>
            <a:ext cx="20288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25" b="1" i="0" u="none">
                <a:solidFill>
                  <a:srgbClr val="FFFFFF"/>
                </a:solidFill>
                <a:latin typeface="Plus Jakarta Sans"/>
              </a:rPr>
              <a:t>Loại bỏ ~8.4% dữ liệu nhiễu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133475"/>
            <a:ext cx="5524500" cy="5343525"/>
          </a:xfrm>
          <a:prstGeom prst="roundRect">
            <a:avLst>
              <a:gd name="adj" fmla="val 21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Rounded Rectangle 2"/>
          <p:cNvSpPr/>
          <p:nvPr/>
        </p:nvSpPr>
        <p:spPr>
          <a:xfrm>
            <a:off x="6210300" y="1133475"/>
            <a:ext cx="5524500" cy="5343525"/>
          </a:xfrm>
          <a:prstGeom prst="roundRect">
            <a:avLst>
              <a:gd name="adj" fmla="val 21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" name="Rounded Rectangle 3"/>
          <p:cNvSpPr/>
          <p:nvPr/>
        </p:nvSpPr>
        <p:spPr>
          <a:xfrm>
            <a:off x="6410325" y="4106167"/>
            <a:ext cx="5124450" cy="884933"/>
          </a:xfrm>
          <a:prstGeom prst="roundRect">
            <a:avLst>
              <a:gd name="adj" fmla="val 1568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Rectangle 4"/>
          <p:cNvSpPr/>
          <p:nvPr/>
        </p:nvSpPr>
        <p:spPr>
          <a:xfrm>
            <a:off x="6410325" y="4106167"/>
            <a:ext cx="3810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3005137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3051869"/>
            <a:ext cx="2571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2 — TIỀN XỬ LÝ DỮ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Bước 1 — Tải &amp; Làm sạch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0325" y="3466207"/>
            <a:ext cx="5219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500" b="0" i="0" u="none">
                <a:solidFill>
                  <a:srgbClr val="334155"/>
                </a:solidFill>
                <a:latin typeface="Plus Jakarta Sans"/>
              </a:rPr>
              <a:t>Loại bỏ hoàn toàn các dòng bị khuyết thiếu thông tin ở các trường đặc trưng quan trọng (brand, model, price).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2971800"/>
            <a:ext cx="230595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Ngưỡng lọc Outliers &amp; Nhiễu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3419475"/>
            <a:ext cx="3396571" cy="2816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driven_kms: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Giữ lại bản ghi ≤ 1.000.000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3724275"/>
            <a:ext cx="3589252" cy="2816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price: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Nằm trong khoảng [30 triệu, 60 tỷ VNĐ]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4029075"/>
            <a:ext cx="2858155" cy="2816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num_of_door: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Giới hạn từ [2, 6] cửa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4333875"/>
            <a:ext cx="3283015" cy="2816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num_of_seat: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Giới hạn từ [2, 16] chỗ ngồi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3018532"/>
            <a:ext cx="273549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Xử lý Giá trị Khuyết (Missing Data)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4258567"/>
            <a:ext cx="2878367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Đảm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bảo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tính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toàn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vẹn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100% </a:t>
            </a:r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dữ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liệu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trước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khi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trích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xuất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đặc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trưng</a:t>
            </a:r>
            <a:endParaRPr sz="1500" b="1" i="0" u="none" dirty="0">
              <a:solidFill>
                <a:srgbClr val="0369A1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995487"/>
            <a:ext cx="3632150" cy="3619500"/>
          </a:xfrm>
          <a:prstGeom prst="roundRect">
            <a:avLst>
              <a:gd name="adj" fmla="val 3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ounded Rectangle 2"/>
          <p:cNvSpPr/>
          <p:nvPr/>
        </p:nvSpPr>
        <p:spPr>
          <a:xfrm>
            <a:off x="4279850" y="1995487"/>
            <a:ext cx="3632150" cy="3619500"/>
          </a:xfrm>
          <a:prstGeom prst="roundRect">
            <a:avLst>
              <a:gd name="adj" fmla="val 3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Rounded Rectangle 3"/>
          <p:cNvSpPr/>
          <p:nvPr/>
        </p:nvSpPr>
        <p:spPr>
          <a:xfrm>
            <a:off x="8102500" y="1995487"/>
            <a:ext cx="3632150" cy="3619500"/>
          </a:xfrm>
          <a:prstGeom prst="roundRect">
            <a:avLst>
              <a:gd name="adj" fmla="val 315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Rounded Rectangle 4"/>
          <p:cNvSpPr/>
          <p:nvPr/>
        </p:nvSpPr>
        <p:spPr>
          <a:xfrm>
            <a:off x="657225" y="4881562"/>
            <a:ext cx="3232100" cy="533400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4479875" y="4881562"/>
            <a:ext cx="3232100" cy="533400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8302525" y="5033962"/>
            <a:ext cx="32321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Rounded Rectangle 7"/>
          <p:cNvSpPr/>
          <p:nvPr/>
        </p:nvSpPr>
        <p:spPr>
          <a:xfrm>
            <a:off x="657225" y="2205037"/>
            <a:ext cx="1028700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Rounded Rectangle 8"/>
          <p:cNvSpPr/>
          <p:nvPr/>
        </p:nvSpPr>
        <p:spPr>
          <a:xfrm>
            <a:off x="4479874" y="2205037"/>
            <a:ext cx="1183131" cy="224969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Rounded Rectangle 9"/>
          <p:cNvSpPr/>
          <p:nvPr/>
        </p:nvSpPr>
        <p:spPr>
          <a:xfrm>
            <a:off x="8302525" y="2205037"/>
            <a:ext cx="638175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2 — TIỀN XỬ LÝ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Bước 2 — Biến đổi Đặc trưng &amp;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4995862"/>
            <a:ext cx="30987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0F172A"/>
                </a:solidFill>
                <a:latin typeface="Plus Jakarta Sans"/>
              </a:rPr>
              <a:t>Chống lỗi out-of-vocabulary khi gặp nhãn mới ở tập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175" y="4995862"/>
            <a:ext cx="30987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0F172A"/>
                </a:solidFill>
                <a:latin typeface="Plus Jakarta Sans"/>
              </a:rPr>
              <a:t>Giúp SVR và Linear Convergence nhanh và chính xác hơn.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525" y="5103583"/>
            <a:ext cx="35178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15803D"/>
                </a:solidFill>
                <a:latin typeface="Plus Jakarta Sans"/>
              </a:rPr>
              <a:t>Triệt</a:t>
            </a:r>
            <a:r>
              <a:rPr sz="1400" b="1" i="0" u="none" dirty="0">
                <a:solidFill>
                  <a:srgbClr val="15803D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15803D"/>
                </a:solidFill>
                <a:latin typeface="Plus Jakarta Sans"/>
              </a:rPr>
              <a:t>tiêu</a:t>
            </a:r>
            <a:r>
              <a:rPr sz="1400" b="1" i="0" u="none" dirty="0">
                <a:solidFill>
                  <a:srgbClr val="15803D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15803D"/>
                </a:solidFill>
                <a:latin typeface="Plus Jakarta Sans"/>
              </a:rPr>
              <a:t>độ</a:t>
            </a:r>
            <a:r>
              <a:rPr sz="1400" b="1" i="0" u="none" dirty="0">
                <a:solidFill>
                  <a:srgbClr val="15803D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15803D"/>
                </a:solidFill>
                <a:latin typeface="Plus Jakarta Sans"/>
              </a:rPr>
              <a:t>lệch</a:t>
            </a:r>
            <a:r>
              <a:rPr sz="1400" b="1" i="0" u="none" dirty="0">
                <a:solidFill>
                  <a:srgbClr val="15803D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15803D"/>
                </a:solidFill>
                <a:latin typeface="Plus Jakarta Sans"/>
              </a:rPr>
              <a:t>phải</a:t>
            </a:r>
            <a:r>
              <a:rPr sz="1400" b="1" i="0" u="none" dirty="0">
                <a:solidFill>
                  <a:srgbClr val="15803D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15803D"/>
                </a:solidFill>
                <a:latin typeface="Plus Jakarta Sans"/>
              </a:rPr>
              <a:t>cực</a:t>
            </a:r>
            <a:r>
              <a:rPr sz="1400" b="1" i="0" u="none" dirty="0">
                <a:solidFill>
                  <a:srgbClr val="15803D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15803D"/>
                </a:solidFill>
                <a:latin typeface="Plus Jakarta Sans"/>
              </a:rPr>
              <a:t>đại</a:t>
            </a:r>
            <a:r>
              <a:rPr sz="1400" b="1" i="0" u="none" dirty="0">
                <a:solidFill>
                  <a:srgbClr val="15803D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15803D"/>
                </a:solidFill>
                <a:latin typeface="Plus Jakarta Sans"/>
              </a:rPr>
              <a:t>của</a:t>
            </a:r>
            <a:r>
              <a:rPr sz="1400" b="1" i="0" u="none" dirty="0">
                <a:solidFill>
                  <a:srgbClr val="15803D"/>
                </a:solidFill>
                <a:latin typeface="Plus Jakarta Sans"/>
              </a:rPr>
              <a:t> </a:t>
            </a:r>
            <a:r>
              <a:rPr sz="1400" b="1" i="0" u="none" dirty="0" err="1">
                <a:solidFill>
                  <a:srgbClr val="15803D"/>
                </a:solidFill>
                <a:latin typeface="Plus Jakarta Sans"/>
              </a:rPr>
              <a:t>biến</a:t>
            </a:r>
            <a:r>
              <a:rPr sz="1400" b="1" i="0" u="none" dirty="0">
                <a:solidFill>
                  <a:srgbClr val="15803D"/>
                </a:solidFill>
                <a:latin typeface="Plus Jakarta Sans"/>
              </a:rPr>
              <a:t> price.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2237243"/>
            <a:ext cx="12477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3730A3"/>
                </a:solidFill>
                <a:latin typeface="Plus Jakarta Sans"/>
              </a:rPr>
              <a:t>CATEGORICAL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2509837"/>
            <a:ext cx="154420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Plus Jakarta Sans"/>
              </a:rPr>
              <a:t>Categorical 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2805112"/>
            <a:ext cx="33273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Plus Jakarta Sans"/>
              </a:rPr>
              <a:t>OneHotEncoder</a:t>
            </a:r>
            <a:r>
              <a:rPr sz="1400" b="0" i="0" u="none">
                <a:solidFill>
                  <a:srgbClr val="0F172A"/>
                </a:solidFill>
                <a:latin typeface="Plus Jakarta Sans"/>
              </a:rPr>
              <a:t> với tùy chọn handle_unknown='ignore'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3319462"/>
            <a:ext cx="332735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>
                <a:solidFill>
                  <a:srgbClr val="64748B"/>
                </a:solidFill>
                <a:latin typeface="Plus Jakarta Sans"/>
              </a:rPr>
              <a:t>Áp dụng cho 6 biến: brand, model, series, assemble_place, engine_type, transmission.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175" y="2243137"/>
            <a:ext cx="10287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75985"/>
                </a:solidFill>
                <a:latin typeface="Plus Jakarta Sans"/>
              </a:rPr>
              <a:t>NUMERICAL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9875" y="2509837"/>
            <a:ext cx="112441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Plus Jakarta Sans"/>
              </a:rPr>
              <a:t>Feature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9875" y="2805112"/>
            <a:ext cx="33273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Plus Jakarta Sans"/>
              </a:rPr>
              <a:t>StandardScaler</a:t>
            </a:r>
            <a:r>
              <a:rPr sz="1400" b="0" i="0" u="none">
                <a:solidFill>
                  <a:srgbClr val="0F172A"/>
                </a:solidFill>
                <a:latin typeface="Plus Jakarta Sans"/>
              </a:rPr>
              <a:t> chuẩn hóa z-score về phân bố μ=0, σ=1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9875" y="3319462"/>
            <a:ext cx="332735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>
                <a:solidFill>
                  <a:srgbClr val="64748B"/>
                </a:solidFill>
                <a:latin typeface="Plus Jakarta Sans"/>
              </a:rPr>
              <a:t>Áp dụng cho 4 biến định lượng: year, driven_kms, num_of_door, num_of_seat.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3137" y="2205037"/>
            <a:ext cx="7334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66534"/>
                </a:solidFill>
                <a:latin typeface="Plus Jakarta Sans"/>
              </a:rPr>
              <a:t>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525" y="2509837"/>
            <a:ext cx="163884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Plus Jakarta Sans"/>
              </a:rPr>
              <a:t>Target Transformation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525" y="2805112"/>
            <a:ext cx="21280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Plus Jakarta Sans"/>
              </a:rPr>
              <a:t>TransformedTargetRegressor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25" y="3119437"/>
            <a:ext cx="33273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>
                <a:solidFill>
                  <a:srgbClr val="166534"/>
                </a:solidFill>
                <a:latin typeface="Plus Jakarta Sans"/>
              </a:rPr>
              <a:t>Biến đổi log1p(y) trong quá trình train và tự động khôi phục expm1(y) khi dự đoán.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133475"/>
            <a:ext cx="5058667" cy="5343525"/>
          </a:xfrm>
          <a:prstGeom prst="roundRect">
            <a:avLst>
              <a:gd name="adj" fmla="val 22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15892" y="1000125"/>
            <a:ext cx="5990332" cy="5343525"/>
          </a:xfrm>
          <a:prstGeom prst="roundRect">
            <a:avLst>
              <a:gd name="adj" fmla="val 21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7225" y="3887092"/>
            <a:ext cx="4658617" cy="857250"/>
          </a:xfrm>
          <a:prstGeom prst="roundRect">
            <a:avLst>
              <a:gd name="adj" fmla="val 888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" name="Rectangle 4"/>
          <p:cNvSpPr/>
          <p:nvPr/>
        </p:nvSpPr>
        <p:spPr>
          <a:xfrm>
            <a:off x="657225" y="3887092"/>
            <a:ext cx="38100" cy="8572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5944492" y="2909887"/>
            <a:ext cx="5590282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" name="Rounded Rectangle 6"/>
          <p:cNvSpPr/>
          <p:nvPr/>
        </p:nvSpPr>
        <p:spPr>
          <a:xfrm>
            <a:off x="5944492" y="3709987"/>
            <a:ext cx="5590282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904232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492" y="2576512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483" y="3443287"/>
            <a:ext cx="1143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2 — TIỀN XỬ LÝ DỮ LIỆU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Bước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3 — Chia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Tập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Dữ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liệu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Xây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dựng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2866132"/>
            <a:ext cx="1914370" cy="20005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D9488"/>
                </a:solidFill>
                <a:latin typeface="Plus Jakarta Sans"/>
              </a:rPr>
              <a:t>Train / Test Split (80 / 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3237607"/>
            <a:ext cx="4753867" cy="470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300" b="0" i="0" u="none">
                <a:solidFill>
                  <a:srgbClr val="334155"/>
                </a:solidFill>
                <a:latin typeface="Plus Jakarta Sans"/>
              </a:rPr>
              <a:t>Chia 24.723 bản ghi theo tỷ lệ 80% Train và 20% Test với random_state = 42 cố định.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4492" y="2538412"/>
            <a:ext cx="2257028" cy="20005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300" b="1" i="0" u="none" dirty="0" err="1">
                <a:solidFill>
                  <a:srgbClr val="0284C7"/>
                </a:solidFill>
                <a:latin typeface="Plus Jakarta Sans"/>
              </a:rPr>
              <a:t>Kiến</a:t>
            </a:r>
            <a:r>
              <a:rPr sz="1300" b="1" i="0" u="none" dirty="0">
                <a:solidFill>
                  <a:srgbClr val="0284C7"/>
                </a:solidFill>
                <a:latin typeface="Plus Jakarta Sans"/>
              </a:rPr>
              <a:t> </a:t>
            </a:r>
            <a:r>
              <a:rPr sz="1300" b="1" i="0" u="none" dirty="0" err="1">
                <a:solidFill>
                  <a:srgbClr val="0284C7"/>
                </a:solidFill>
                <a:latin typeface="Plus Jakarta Sans"/>
              </a:rPr>
              <a:t>trúc</a:t>
            </a:r>
            <a:r>
              <a:rPr sz="1300" b="1" i="0" u="none" dirty="0">
                <a:solidFill>
                  <a:srgbClr val="0284C7"/>
                </a:solidFill>
                <a:latin typeface="Plus Jakarta Sans"/>
              </a:rPr>
              <a:t> Scikit-Learn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039492"/>
            <a:ext cx="1588127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CHỐNG DATA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249042"/>
            <a:ext cx="4410967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u="none">
                <a:solidFill>
                  <a:srgbClr val="475569"/>
                </a:solidFill>
                <a:latin typeface="Plus Jakarta Sans"/>
              </a:rPr>
              <a:t>Lệnh fit() chỉ được gọi trên tập Train. Tập Test chỉ chạy transform().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892" y="3024187"/>
            <a:ext cx="538073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u="none">
                <a:solidFill>
                  <a:srgbClr val="0F172A"/>
                </a:solidFill>
                <a:latin typeface="JetBrains Mono"/>
              </a:rPr>
              <a:t>ColumnTransformer(num_pipe, cat_pipe)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892" y="3824287"/>
            <a:ext cx="5380732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u="none">
                <a:solidFill>
                  <a:srgbClr val="0F172A"/>
                </a:solidFill>
                <a:latin typeface="JetBrains Mono"/>
              </a:rPr>
              <a:t>TransformedTargetRegressor(regressor=Model, func=np.log1p, inverse_func=np.expm1)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90737"/>
            <a:ext cx="2676525" cy="3429000"/>
          </a:xfrm>
          <a:prstGeom prst="roundRect">
            <a:avLst>
              <a:gd name="adj" fmla="val 42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24225" y="2090737"/>
            <a:ext cx="2676525" cy="3429000"/>
          </a:xfrm>
          <a:prstGeom prst="roundRect">
            <a:avLst>
              <a:gd name="adj" fmla="val 42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" name="Rounded Rectangle 3"/>
          <p:cNvSpPr/>
          <p:nvPr/>
        </p:nvSpPr>
        <p:spPr>
          <a:xfrm>
            <a:off x="6191250" y="2090737"/>
            <a:ext cx="2676525" cy="3429000"/>
          </a:xfrm>
          <a:prstGeom prst="roundRect">
            <a:avLst>
              <a:gd name="adj" fmla="val 42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" name="Rounded Rectangle 4"/>
          <p:cNvSpPr/>
          <p:nvPr/>
        </p:nvSpPr>
        <p:spPr>
          <a:xfrm>
            <a:off x="9058275" y="2090737"/>
            <a:ext cx="2676525" cy="3429000"/>
          </a:xfrm>
          <a:prstGeom prst="roundRect">
            <a:avLst>
              <a:gd name="adj" fmla="val 4270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657225" y="2300287"/>
            <a:ext cx="704850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" name="Rounded Rectangle 6"/>
          <p:cNvSpPr/>
          <p:nvPr/>
        </p:nvSpPr>
        <p:spPr>
          <a:xfrm>
            <a:off x="3524250" y="2300287"/>
            <a:ext cx="885825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" name="Rounded Rectangle 7"/>
          <p:cNvSpPr/>
          <p:nvPr/>
        </p:nvSpPr>
        <p:spPr>
          <a:xfrm>
            <a:off x="6391275" y="2300287"/>
            <a:ext cx="762000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9" name="Rounded Rectangle 8"/>
          <p:cNvSpPr/>
          <p:nvPr/>
        </p:nvSpPr>
        <p:spPr>
          <a:xfrm>
            <a:off x="9258300" y="2300287"/>
            <a:ext cx="1171575" cy="219075"/>
          </a:xfrm>
          <a:prstGeom prst="roundRect">
            <a:avLst>
              <a:gd name="adj" fmla="val 17391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0" name="TextBox 9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3 — THỬ NGHIỆM &amp; SO SÁNH MÔ HÌNH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4 Mô hình Học máy Thử nghiệm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5167312"/>
            <a:ext cx="1247201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Tốc độ: Rất nhanh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4250" y="5167312"/>
            <a:ext cx="945772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Tốc độ: 17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5167312"/>
            <a:ext cx="1114088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Kích thước: Lớn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8300" y="5167312"/>
            <a:ext cx="1500539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766E"/>
                </a:solidFill>
                <a:latin typeface="Plus Jakarta Sans"/>
              </a:rPr>
              <a:t>Model Size: ~0.18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4" y="2338387"/>
            <a:ext cx="828675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solidFill>
                  <a:srgbClr val="475569"/>
                </a:solidFill>
                <a:latin typeface="Plus Jakarta Sans"/>
              </a:rPr>
              <a:t>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2586037"/>
            <a:ext cx="121238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Linear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2881312"/>
            <a:ext cx="2371725" cy="608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Plus Jakarta Sans"/>
              </a:rPr>
              <a:t>Mô hình tuyến tính cơ sở. Học trọng số w cho các đặc trưng sau khi mã hóa one-hot.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450" y="2338387"/>
            <a:ext cx="1161703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solidFill>
                  <a:srgbClr val="475569"/>
                </a:solidFill>
                <a:latin typeface="Plus Jakarta Sans"/>
              </a:rPr>
              <a:t>TREE-BASED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4250" y="2586037"/>
            <a:ext cx="924164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Decision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4250" y="2881312"/>
            <a:ext cx="2371725" cy="608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Plus Jakarta Sans"/>
              </a:rPr>
              <a:t>Mô hình cây quyết định đơn lẻ. Học phi tuyến tính dựa trên các ngưỡng phân nhánh dữ liệu.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475" y="2338387"/>
            <a:ext cx="8763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solidFill>
                  <a:srgbClr val="475569"/>
                </a:solidFill>
                <a:latin typeface="Plus Jakarta Sans"/>
              </a:rPr>
              <a:t>ENSEMBLE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275" y="2586037"/>
            <a:ext cx="104740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Random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275" y="2881312"/>
            <a:ext cx="2371725" cy="608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475569"/>
                </a:solidFill>
                <a:latin typeface="Plus Jakarta Sans"/>
              </a:rPr>
              <a:t>Tập hợp nhiều cây quyết định kết hợp bagging để giảm variance và hạn chế overfitting.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0" y="2338387"/>
            <a:ext cx="1114425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FFFFFF"/>
                </a:solidFill>
                <a:latin typeface="Plus Jakarta Sans"/>
              </a:rPr>
              <a:t>BEST PERFORMER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8300" y="2586037"/>
            <a:ext cx="2490311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766E"/>
                </a:solidFill>
                <a:latin typeface="Plus Jakarta Sans"/>
              </a:rPr>
              <a:t>Support Vector Regression (SVR)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8300" y="3100387"/>
            <a:ext cx="2371725" cy="608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115E59"/>
                </a:solidFill>
                <a:latin typeface="Plus Jakarta Sans"/>
              </a:rPr>
              <a:t>Sử dụng nhân Kernel phi tuyến tính tối ưu khoảng cách epsilon-margin.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824412"/>
            <a:ext cx="112776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48025"/>
            <a:ext cx="31893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46586" y="3248025"/>
            <a:ext cx="17092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55877" y="3248025"/>
            <a:ext cx="18125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68455" y="3248025"/>
            <a:ext cx="975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43577" y="3248025"/>
            <a:ext cx="1686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829948" y="3248025"/>
            <a:ext cx="1904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3705225"/>
            <a:ext cx="31893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46586" y="3705225"/>
            <a:ext cx="17092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55877" y="3705225"/>
            <a:ext cx="18125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68455" y="3705225"/>
            <a:ext cx="975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43577" y="3705225"/>
            <a:ext cx="1686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29948" y="3705225"/>
            <a:ext cx="1904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162425"/>
            <a:ext cx="31893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46586" y="4162425"/>
            <a:ext cx="17092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55877" y="4162425"/>
            <a:ext cx="18125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68455" y="4162425"/>
            <a:ext cx="975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3577" y="4162425"/>
            <a:ext cx="1686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29948" y="4162425"/>
            <a:ext cx="1904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619625"/>
            <a:ext cx="31893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46586" y="4619625"/>
            <a:ext cx="17092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55877" y="4619625"/>
            <a:ext cx="18125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68455" y="4619625"/>
            <a:ext cx="975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43577" y="4619625"/>
            <a:ext cx="1686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29948" y="4619625"/>
            <a:ext cx="1904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445651"/>
              </p:ext>
            </p:extLst>
          </p:nvPr>
        </p:nvGraphicFramePr>
        <p:xfrm>
          <a:off x="457200" y="2357437"/>
          <a:ext cx="11277597" cy="2276475"/>
        </p:xfrm>
        <a:graphic>
          <a:graphicData uri="http://schemas.openxmlformats.org/drawingml/2006/table">
            <a:tbl>
              <a:tblPr/>
              <a:tblGrid>
                <a:gridCol w="3189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2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6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48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Mô hình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MAE (triệu VNĐ)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RMSE (triệu VNĐ)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R² Test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Tốc độ Suy luận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Dung lượng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766E"/>
                          </a:solidFill>
                          <a:latin typeface="Plus Jakarta Sans"/>
                        </a:rPr>
                        <a:t>Support Vector Regression (SVR)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766E"/>
                          </a:solidFill>
                          <a:latin typeface="Plus Jakarta Sans"/>
                        </a:rPr>
                        <a:t>83.3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766E"/>
                          </a:solidFill>
                          <a:latin typeface="Plus Jakarta Sans"/>
                        </a:rPr>
                        <a:t>489.0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766E"/>
                          </a:solidFill>
                          <a:latin typeface="Plus Jakarta Sans"/>
                        </a:rPr>
                        <a:t>0.9772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0F766E"/>
                          </a:solidFill>
                          <a:latin typeface="Plus Jakarta Sans"/>
                        </a:rPr>
                        <a:t>~2</a:t>
                      </a:r>
                      <a:r>
                        <a:rPr lang="en-US" sz="1125" b="1" i="0" u="none" dirty="0">
                          <a:solidFill>
                            <a:srgbClr val="0F766E"/>
                          </a:solidFill>
                          <a:latin typeface="Plus Jakarta Sans"/>
                        </a:rPr>
                        <a:t>4</a:t>
                      </a:r>
                      <a:r>
                        <a:rPr sz="1125" b="1" i="0" u="none" dirty="0">
                          <a:solidFill>
                            <a:srgbClr val="0F766E"/>
                          </a:solidFill>
                          <a:latin typeface="Plus Jakarta Sans"/>
                        </a:rPr>
                        <a:t> </a:t>
                      </a:r>
                      <a:r>
                        <a:rPr sz="1125" b="1" i="0" u="none" dirty="0" err="1">
                          <a:solidFill>
                            <a:srgbClr val="0F766E"/>
                          </a:solidFill>
                          <a:latin typeface="Plus Jakarta Sans"/>
                        </a:rPr>
                        <a:t>ms</a:t>
                      </a:r>
                      <a:endParaRPr sz="1125" b="1" i="0" u="none" dirty="0">
                        <a:solidFill>
                          <a:srgbClr val="0F766E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766E"/>
                          </a:solidFill>
                          <a:latin typeface="Plus Jakarta Sans"/>
                        </a:rPr>
                        <a:t>~0.18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Linear Regression (Baseline)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100.2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434.7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0.9676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~1</a:t>
                      </a:r>
                      <a:r>
                        <a:rPr lang="en-US" sz="11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4</a:t>
                      </a:r>
                      <a:r>
                        <a:rPr sz="11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0 </a:t>
                      </a:r>
                      <a:r>
                        <a:rPr sz="1125" b="0" i="0" u="none" dirty="0" err="1">
                          <a:solidFill>
                            <a:srgbClr val="1E293B"/>
                          </a:solidFill>
                          <a:latin typeface="Plus Jakarta Sans"/>
                        </a:rPr>
                        <a:t>ms</a:t>
                      </a:r>
                      <a:endParaRPr sz="1125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Nhỏ (&lt; 1 MB)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Random Forest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136.1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457.5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0.9429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~1</a:t>
                      </a:r>
                      <a:r>
                        <a:rPr lang="en-US" sz="11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4</a:t>
                      </a:r>
                      <a:r>
                        <a:rPr sz="11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0 </a:t>
                      </a:r>
                      <a:r>
                        <a:rPr sz="1125" b="0" i="0" u="none" dirty="0" err="1">
                          <a:solidFill>
                            <a:srgbClr val="1E293B"/>
                          </a:solidFill>
                          <a:latin typeface="Plus Jakarta Sans"/>
                        </a:rPr>
                        <a:t>ms</a:t>
                      </a:r>
                      <a:endParaRPr sz="1125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Lớn (~100 MB)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Decision Tree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217.1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611.6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0.8980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~1</a:t>
                      </a:r>
                      <a:r>
                        <a:rPr lang="en-US" sz="11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4</a:t>
                      </a:r>
                      <a:r>
                        <a:rPr sz="11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1E293B"/>
                          </a:solidFill>
                          <a:latin typeface="Plus Jakarta Sans"/>
                        </a:rPr>
                        <a:t>ms</a:t>
                      </a:r>
                      <a:endParaRPr sz="1125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Trung </a:t>
                      </a:r>
                      <a:r>
                        <a:rPr sz="1125" b="0" i="0" u="none" dirty="0" err="1">
                          <a:solidFill>
                            <a:srgbClr val="1E293B"/>
                          </a:solidFill>
                          <a:latin typeface="Plus Jakarta Sans"/>
                        </a:rPr>
                        <a:t>bình</a:t>
                      </a:r>
                      <a:endParaRPr sz="1125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3 — THỬ NGHIỆM &amp; SO SÁNH MÔ HÌNH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Bảng Đánh giá Kết quả Thực nghiệm (Test Set)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986337"/>
            <a:ext cx="11534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*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Ghi chú: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Số liệu thu được từ quá trình đánh giá thực nghiệm trên tập Test cố định (20% dữ liệu). SVR cho chỉ số R² vượt trội cùng dung lượng lưu trữ cực kỳ tối ưu.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804987"/>
            <a:ext cx="55245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" name="Rounded Rectangle 2"/>
          <p:cNvSpPr/>
          <p:nvPr/>
        </p:nvSpPr>
        <p:spPr>
          <a:xfrm>
            <a:off x="6210300" y="1804987"/>
            <a:ext cx="55245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" name="Rounded Rectangle 3"/>
          <p:cNvSpPr/>
          <p:nvPr/>
        </p:nvSpPr>
        <p:spPr>
          <a:xfrm>
            <a:off x="657225" y="3209925"/>
            <a:ext cx="51244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" name="Rounded Rectangle 4"/>
          <p:cNvSpPr/>
          <p:nvPr/>
        </p:nvSpPr>
        <p:spPr>
          <a:xfrm>
            <a:off x="657225" y="3686175"/>
            <a:ext cx="51244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657225" y="4162425"/>
            <a:ext cx="51244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" name="Rounded Rectangle 6"/>
          <p:cNvSpPr/>
          <p:nvPr/>
        </p:nvSpPr>
        <p:spPr>
          <a:xfrm>
            <a:off x="657225" y="4638675"/>
            <a:ext cx="51244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" name="Rounded Rectangle 7"/>
          <p:cNvSpPr/>
          <p:nvPr/>
        </p:nvSpPr>
        <p:spPr>
          <a:xfrm>
            <a:off x="6410325" y="3209925"/>
            <a:ext cx="51244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9" name="Rounded Rectangle 8"/>
          <p:cNvSpPr/>
          <p:nvPr/>
        </p:nvSpPr>
        <p:spPr>
          <a:xfrm>
            <a:off x="6410325" y="3686175"/>
            <a:ext cx="51244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0" name="Rounded Rectangle 9"/>
          <p:cNvSpPr/>
          <p:nvPr/>
        </p:nvSpPr>
        <p:spPr>
          <a:xfrm>
            <a:off x="6410325" y="4162425"/>
            <a:ext cx="51244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1" name="Rounded Rectangle 10"/>
          <p:cNvSpPr/>
          <p:nvPr/>
        </p:nvSpPr>
        <p:spPr>
          <a:xfrm>
            <a:off x="6410325" y="4638675"/>
            <a:ext cx="51244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2" name="Rectangle 11"/>
          <p:cNvSpPr/>
          <p:nvPr/>
        </p:nvSpPr>
        <p:spPr>
          <a:xfrm>
            <a:off x="657225" y="3209925"/>
            <a:ext cx="5007471" cy="1143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3" name="Rectangle 12"/>
          <p:cNvSpPr/>
          <p:nvPr/>
        </p:nvSpPr>
        <p:spPr>
          <a:xfrm>
            <a:off x="657225" y="3686175"/>
            <a:ext cx="4958357" cy="114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4" name="Rectangle 13"/>
          <p:cNvSpPr/>
          <p:nvPr/>
        </p:nvSpPr>
        <p:spPr>
          <a:xfrm>
            <a:off x="657225" y="4162425"/>
            <a:ext cx="4831705" cy="1143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5" name="Rectangle 14"/>
          <p:cNvSpPr/>
          <p:nvPr/>
        </p:nvSpPr>
        <p:spPr>
          <a:xfrm>
            <a:off x="657225" y="4638675"/>
            <a:ext cx="4601616" cy="1143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6" name="Rectangle 15"/>
          <p:cNvSpPr/>
          <p:nvPr/>
        </p:nvSpPr>
        <p:spPr>
          <a:xfrm>
            <a:off x="6410325" y="3209925"/>
            <a:ext cx="1947267" cy="1143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7" name="Rectangle 16"/>
          <p:cNvSpPr/>
          <p:nvPr/>
        </p:nvSpPr>
        <p:spPr>
          <a:xfrm>
            <a:off x="6410325" y="3686175"/>
            <a:ext cx="2357139" cy="114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8" name="Rectangle 17"/>
          <p:cNvSpPr/>
          <p:nvPr/>
        </p:nvSpPr>
        <p:spPr>
          <a:xfrm>
            <a:off x="6410325" y="4162425"/>
            <a:ext cx="3177033" cy="1143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9" name="Rectangle 18"/>
          <p:cNvSpPr/>
          <p:nvPr/>
        </p:nvSpPr>
        <p:spPr>
          <a:xfrm>
            <a:off x="6410325" y="4638675"/>
            <a:ext cx="5124450" cy="1143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0" name="TextBox 19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3 — THỬ NGHIỆM &amp; SO SÁNH MÔ HÌNH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So sánh Trực quan các Chỉ số Đánh giá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143470" y="2005012"/>
            <a:ext cx="67258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Hệ số Xác định (R² Score)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" y="5453062"/>
            <a:ext cx="6405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Chỉ số R² càng gần 1.0 càng tốt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0503" y="2005012"/>
            <a:ext cx="160409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 u="none">
                <a:solidFill>
                  <a:srgbClr val="0F172A"/>
                </a:solidFill>
                <a:latin typeface="Plus Jakarta Sans"/>
              </a:rPr>
              <a:t>Sai số MAE (Triệu VNĐ)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4869" y="5453062"/>
            <a:ext cx="2015359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0" i="0" u="none">
                <a:solidFill>
                  <a:srgbClr val="64748B"/>
                </a:solidFill>
                <a:latin typeface="Plus Jakarta Sans"/>
              </a:rPr>
              <a:t>Chỉ số MAE càng nhỏ càng tốt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" y="3000375"/>
            <a:ext cx="269176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SVR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3000375"/>
            <a:ext cx="469680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D9488"/>
                </a:solidFill>
                <a:latin typeface="Plus Jakarta Sans"/>
              </a:rPr>
              <a:t>0.9772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476625"/>
            <a:ext cx="763799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 dirty="0">
                <a:solidFill>
                  <a:srgbClr val="0F172A"/>
                </a:solidFill>
                <a:latin typeface="Plus Jakarta Sans"/>
              </a:rPr>
              <a:t>Linear Reg.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3525" y="3476625"/>
            <a:ext cx="469680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0.9676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3952875"/>
            <a:ext cx="104740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Random Forest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4475" y="3952875"/>
            <a:ext cx="469680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0.9429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225" y="4429125"/>
            <a:ext cx="924164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Decision Tree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95900" y="4429125"/>
            <a:ext cx="469680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0.8980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0325" y="3000375"/>
            <a:ext cx="269176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SVR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06125" y="3000375"/>
            <a:ext cx="670055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D9488"/>
                </a:solidFill>
                <a:latin typeface="Plus Jakarta Sans"/>
              </a:rPr>
              <a:t>83.3 triệu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0325" y="3476625"/>
            <a:ext cx="763799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Linear Reg.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9450" y="3476625"/>
            <a:ext cx="755015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100.2 triệu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0325" y="3952875"/>
            <a:ext cx="104740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Random Forest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7075" y="3952875"/>
            <a:ext cx="755015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136.1 triệu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0325" y="4429125"/>
            <a:ext cx="924164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Decision Tree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06125" y="4429125"/>
            <a:ext cx="755015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217.1 triệu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557462"/>
            <a:ext cx="5876925" cy="2495550"/>
          </a:xfrm>
          <a:prstGeom prst="roundRect">
            <a:avLst>
              <a:gd name="adj" fmla="val 4580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9625" y="2909887"/>
            <a:ext cx="1619250" cy="2667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62725" y="2686050"/>
            <a:ext cx="5172075" cy="2238375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409825" y="4024312"/>
            <a:ext cx="9525" cy="676275"/>
          </a:xfrm>
          <a:prstGeom prst="rect">
            <a:avLst/>
          </a:prstGeom>
          <a:solidFill>
            <a:srgbClr val="99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0" y="2924175"/>
            <a:ext cx="17145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3 — THỬ NGHIỆM &amp; SO SÁNH MÔ HÌNH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Mô hình Tối ưu nhất — Support Vector Regression (SVR)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2967037"/>
            <a:ext cx="144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CHỌN LỰA TRIỂN KHAI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367087"/>
            <a:ext cx="6788348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766E"/>
                </a:solidFill>
                <a:latin typeface="Plus Jakarta Sans"/>
              </a:rPr>
              <a:t>Support Vector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0" y="2886075"/>
            <a:ext cx="2485937" cy="20005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766E"/>
                </a:solidFill>
                <a:latin typeface="Plus Jakarta Sans"/>
              </a:rPr>
              <a:t>Lý do lựa chọn theo Thực nghiệm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024312"/>
            <a:ext cx="1714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5E59"/>
                </a:solidFill>
                <a:latin typeface="Plus Jakarta Sans"/>
              </a:rPr>
              <a:t>R² TEST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195762"/>
            <a:ext cx="1714500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766E"/>
                </a:solidFill>
                <a:latin typeface="Plus Jakarta Sans"/>
              </a:rPr>
              <a:t>0.9772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024312"/>
            <a:ext cx="1738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5E59"/>
                </a:solidFill>
                <a:latin typeface="Plus Jakarta Sans"/>
              </a:rPr>
              <a:t>SAI SỐ 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7950" y="4195762"/>
            <a:ext cx="1738312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766E"/>
                </a:solidFill>
                <a:latin typeface="Plus Jakarta Sans"/>
              </a:rPr>
              <a:t>83.3 </a:t>
            </a:r>
            <a:r>
              <a:rPr sz="1350" b="1" i="0" u="none">
                <a:solidFill>
                  <a:srgbClr val="0F766E"/>
                </a:solidFill>
                <a:latin typeface="Plus Jakarta Sans"/>
              </a:rPr>
              <a:t>triệu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3181350"/>
            <a:ext cx="4279505" cy="2363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00" b="1" i="0" u="none">
                <a:solidFill>
                  <a:srgbClr val="334155"/>
                </a:solidFill>
                <a:latin typeface="Plus Jakarta Sans"/>
              </a:rPr>
              <a:t>R² cao nhất (0.9772):</a:t>
            </a:r>
            <a:r>
              <a:rPr sz="1300" b="0" i="0" u="none">
                <a:solidFill>
                  <a:srgbClr val="334155"/>
                </a:solidFill>
                <a:latin typeface="Plus Jakarta Sans"/>
              </a:rPr>
              <a:t> Giải thích tới 97.7% biến thiên của giá xe.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3438525"/>
            <a:ext cx="4440446" cy="2363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00" b="1" i="0" u="none">
                <a:solidFill>
                  <a:srgbClr val="334155"/>
                </a:solidFill>
                <a:latin typeface="Plus Jakarta Sans"/>
              </a:rPr>
              <a:t>MAE thấp nhất (83.3 triệu):</a:t>
            </a:r>
            <a:r>
              <a:rPr sz="1300" b="0" i="0" u="none">
                <a:solidFill>
                  <a:srgbClr val="334155"/>
                </a:solidFill>
                <a:latin typeface="Plus Jakarta Sans"/>
              </a:rPr>
              <a:t> Độ lệch dự đoán trung bình tốt nhất.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3695700"/>
            <a:ext cx="5553075" cy="236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00" b="1" i="0" u="none" dirty="0">
                <a:solidFill>
                  <a:srgbClr val="334155"/>
                </a:solidFill>
                <a:latin typeface="Plus Jakarta Sans"/>
              </a:rPr>
              <a:t>Dung </a:t>
            </a:r>
            <a:r>
              <a:rPr sz="1300" b="1" i="0" u="none" dirty="0" err="1">
                <a:solidFill>
                  <a:srgbClr val="334155"/>
                </a:solidFill>
                <a:latin typeface="Plus Jakarta Sans"/>
              </a:rPr>
              <a:t>lượng</a:t>
            </a:r>
            <a:r>
              <a:rPr sz="1300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00" b="1" i="0" u="none" dirty="0" err="1">
                <a:solidFill>
                  <a:srgbClr val="334155"/>
                </a:solidFill>
                <a:latin typeface="Plus Jakarta Sans"/>
              </a:rPr>
              <a:t>cực</a:t>
            </a:r>
            <a:r>
              <a:rPr sz="1300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00" b="1" i="0" u="none" dirty="0" err="1">
                <a:solidFill>
                  <a:srgbClr val="334155"/>
                </a:solidFill>
                <a:latin typeface="Plus Jakarta Sans"/>
              </a:rPr>
              <a:t>nhẹ</a:t>
            </a:r>
            <a:r>
              <a:rPr sz="1300" b="1" i="0" u="none" dirty="0">
                <a:solidFill>
                  <a:srgbClr val="334155"/>
                </a:solidFill>
                <a:latin typeface="Plus Jakarta Sans"/>
              </a:rPr>
              <a:t> (~0.18 MB):</a:t>
            </a:r>
            <a:r>
              <a:rPr sz="13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334155"/>
                </a:solidFill>
                <a:latin typeface="Plus Jakarta Sans"/>
              </a:rPr>
              <a:t>Dễ</a:t>
            </a:r>
            <a:r>
              <a:rPr sz="13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334155"/>
                </a:solidFill>
                <a:latin typeface="Plus Jakarta Sans"/>
              </a:rPr>
              <a:t>dàng</a:t>
            </a:r>
            <a:r>
              <a:rPr sz="13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334155"/>
                </a:solidFill>
                <a:latin typeface="Plus Jakarta Sans"/>
              </a:rPr>
              <a:t>đóng</a:t>
            </a:r>
            <a:r>
              <a:rPr sz="13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334155"/>
                </a:solidFill>
                <a:latin typeface="Plus Jakarta Sans"/>
              </a:rPr>
              <a:t>gói</a:t>
            </a:r>
            <a:r>
              <a:rPr sz="13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334155"/>
                </a:solidFill>
                <a:latin typeface="Plus Jakarta Sans"/>
              </a:rPr>
              <a:t>vào</a:t>
            </a:r>
            <a:r>
              <a:rPr sz="1300" b="0" i="0" u="none" dirty="0">
                <a:solidFill>
                  <a:srgbClr val="334155"/>
                </a:solidFill>
                <a:latin typeface="Plus Jakarta Sans"/>
              </a:rPr>
              <a:t> Docker container.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0" y="4210050"/>
            <a:ext cx="4867275" cy="236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00" b="1" i="0" u="none">
                <a:solidFill>
                  <a:srgbClr val="334155"/>
                </a:solidFill>
                <a:latin typeface="Plus Jakarta Sans"/>
              </a:rPr>
              <a:t>Suy luận siêu nhanh (~20 ms):</a:t>
            </a:r>
            <a:r>
              <a:rPr sz="1300" b="0" i="0" u="none">
                <a:solidFill>
                  <a:srgbClr val="334155"/>
                </a:solidFill>
                <a:latin typeface="Plus Jakarta Sans"/>
              </a:rPr>
              <a:t> Sẵn sàng đáp ứng yêu cầu Real-time API.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933700"/>
            <a:ext cx="3228975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91000" y="2933700"/>
            <a:ext cx="3228975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24800" y="2933700"/>
            <a:ext cx="3810000" cy="1743075"/>
          </a:xfrm>
          <a:prstGeom prst="roundRect">
            <a:avLst>
              <a:gd name="adj" fmla="val 6557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3690937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5" y="3690937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187" y="317182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987" y="317182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300" y="3171825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6437" y="3276600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762" y="3276600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4075" y="3276600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3 — TRIỂN KHAI HỆ THỐNG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Kiến trúc Hệ thống — 3 Container 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984" y="3667125"/>
            <a:ext cx="3631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284C7"/>
                </a:solidFill>
                <a:latin typeface="Plus Jakarta Sans"/>
              </a:rPr>
              <a:t>FRONTEND 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984" y="3876675"/>
            <a:ext cx="36314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Nginx :3000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984" y="4133850"/>
            <a:ext cx="36314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HTML / CSS / JS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 Form nhập thông tin 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9784" y="3667125"/>
            <a:ext cx="3631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F46E5"/>
                </a:solidFill>
                <a:latin typeface="Plus Jakarta Sans"/>
              </a:rPr>
              <a:t>BACKEND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9784" y="3876675"/>
            <a:ext cx="36314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FastAPI / Flask :8000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9784" y="4133850"/>
            <a:ext cx="36314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Validate schema · Logging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 Tạo request_id · Forward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956" y="3667125"/>
            <a:ext cx="4357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766E"/>
                </a:solidFill>
                <a:latin typeface="Plus Jakarta Sans"/>
              </a:rPr>
              <a:t>AI SERVICE CONTAINER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0956" y="3876675"/>
            <a:ext cx="4357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AI Engine :8001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956" y="4133850"/>
            <a:ext cx="435768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766E"/>
                </a:solidFill>
                <a:latin typeface="Plus Jakarta Sans"/>
              </a:rPr>
              <a:t>Load 4 model .joblib</a:t>
            </a:r>
            <a:r>
              <a:t>
</a:t>
            </a:r>
            <a:r>
              <a:rPr sz="975" b="0" i="0" u="none">
                <a:solidFill>
                  <a:srgbClr val="0F766E"/>
                </a:solidFill>
                <a:latin typeface="Plus Jakarta Sans"/>
              </a:rPr>
              <a:t> SVR · Linear · RF · Decision Tree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839491"/>
            <a:ext cx="6277867" cy="1931491"/>
          </a:xfrm>
          <a:prstGeom prst="roundRect">
            <a:avLst>
              <a:gd name="adj" fmla="val 5917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3425" y="3401466"/>
            <a:ext cx="5725417" cy="504825"/>
          </a:xfrm>
          <a:prstGeom prst="roundRect">
            <a:avLst>
              <a:gd name="adj" fmla="val 150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" name="Rounded Rectangle 3"/>
          <p:cNvSpPr/>
          <p:nvPr/>
        </p:nvSpPr>
        <p:spPr>
          <a:xfrm>
            <a:off x="6963667" y="2600325"/>
            <a:ext cx="4771132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" name="Rounded Rectangle 4"/>
          <p:cNvSpPr/>
          <p:nvPr/>
        </p:nvSpPr>
        <p:spPr>
          <a:xfrm>
            <a:off x="6963667" y="3876675"/>
            <a:ext cx="4771132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3115716"/>
            <a:ext cx="21907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692" y="2838450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3692" y="4114800"/>
            <a:ext cx="1333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3 — TRIỂN KHAI HỆ THỐNG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Đóng gói Docker &amp; Public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3115716"/>
            <a:ext cx="2292422" cy="200055"/>
          </a:xfrm>
          <a:prstGeom prst="rect">
            <a:avLst/>
          </a:prstGeom>
          <a:noFill/>
        </p:spPr>
        <p:txBody>
          <a:bodyPr wrap="none" lIns="276225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94A3B8"/>
                </a:solidFill>
                <a:latin typeface="Plus Jakarta Sans"/>
              </a:rPr>
              <a:t> DOCKER COMPOSE STARTUP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553866"/>
            <a:ext cx="551586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u="none">
                <a:solidFill>
                  <a:srgbClr val="38BDF8"/>
                </a:solidFill>
                <a:latin typeface="JetBrains Mono"/>
              </a:rPr>
              <a:t>$ docker compose up --build 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4058691"/>
            <a:ext cx="5820667" cy="436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300" b="0" i="0" u="none">
                <a:solidFill>
                  <a:srgbClr val="CBD5E1"/>
                </a:solidFill>
                <a:latin typeface="Plus Jakarta Sans"/>
              </a:rPr>
              <a:t>Tự động khởi chạy đồng thời 3 container độc lập, thiết lập mạng nội bộ bridge network cho truyền nhận dữ liệu an toàn.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3692" y="2800350"/>
            <a:ext cx="1905073" cy="20005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Ngrok Internet Tunneling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3692" y="3095625"/>
            <a:ext cx="446633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00" b="0" i="0" u="none">
                <a:solidFill>
                  <a:srgbClr val="334155"/>
                </a:solidFill>
                <a:latin typeface="Plus Jakarta Sans"/>
              </a:rPr>
              <a:t>Expose ứng dụng ra Internet công cộng giúp giảng viên và người dùng tra cứu trải nghiệm thực tế mọi lúc.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3692" y="4076700"/>
            <a:ext cx="1194686" cy="20005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172A"/>
                </a:solidFill>
                <a:latin typeface="Plus Jakarta Sans"/>
              </a:rPr>
              <a:t>System 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3692" y="4371975"/>
            <a:ext cx="446633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00" b="0" i="0" u="none">
                <a:solidFill>
                  <a:srgbClr val="334155"/>
                </a:solidFill>
                <a:latin typeface="Plus Jakarta Sans"/>
              </a:rPr>
              <a:t>Ghi nhận lịch sử thay đổi IP tunnel công cộng tại tệp: logs/tunnel-changes.log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124200"/>
            <a:ext cx="11277600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0125" y="34385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" name="Rounded Rectangle 3"/>
          <p:cNvSpPr/>
          <p:nvPr/>
        </p:nvSpPr>
        <p:spPr>
          <a:xfrm>
            <a:off x="3326606" y="34385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Rounded Rectangle 4"/>
          <p:cNvSpPr/>
          <p:nvPr/>
        </p:nvSpPr>
        <p:spPr>
          <a:xfrm>
            <a:off x="5876925" y="34385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8451056" y="34385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Rounded Rectangle 6"/>
          <p:cNvSpPr/>
          <p:nvPr/>
        </p:nvSpPr>
        <p:spPr>
          <a:xfrm>
            <a:off x="10825162" y="34385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665" y="3729037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196" y="3729037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303" y="3729037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459" y="3729037"/>
            <a:ext cx="952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4 — LUỒNG XỬ LÝ &amp;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Luồng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Xử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lý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Yêu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cầu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Dự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đoán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(Prediction Pipeline)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3494559"/>
            <a:ext cx="62865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81" y="3857625"/>
            <a:ext cx="95378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Người dùng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603" y="4029075"/>
            <a:ext cx="138794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Plus Jakarta Sans"/>
              </a:rPr>
              <a:t>Nhập thông tin xe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3731" y="3494559"/>
            <a:ext cx="62865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5039" y="3857625"/>
            <a:ext cx="72603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0207" y="4029075"/>
            <a:ext cx="137569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Plus Jakarta Sans"/>
              </a:rPr>
              <a:t>Gửi JSON Payload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34050" y="3494559"/>
            <a:ext cx="62865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2187" y="3857625"/>
            <a:ext cx="141237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Backend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8132" y="4029075"/>
            <a:ext cx="200048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Plus Jakarta Sans"/>
              </a:rPr>
              <a:t>Validate &amp; cấp request_id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181" y="3494559"/>
            <a:ext cx="62865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0539" y="3857625"/>
            <a:ext cx="78393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AI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2482" y="4029075"/>
            <a:ext cx="158004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Plus Jakarta Sans"/>
              </a:rPr>
              <a:t>Inference 4 Mô hình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82287" y="3494559"/>
            <a:ext cx="62865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3426" y="3857625"/>
            <a:ext cx="126637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Kết quả So sánh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8767" y="4029075"/>
            <a:ext cx="111569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Plus Jakarta Sans"/>
              </a:rPr>
              <a:t>Hiển thị lên UI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91701" y="2356770"/>
            <a:ext cx="3343099" cy="2396353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4487"/>
            <a:ext cx="6283374" cy="438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4 — LUỒNG XỬ LÝ &amp;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Demo Giao diện Nhập liệu &amp; Ước tính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1726" y="2374065"/>
            <a:ext cx="3028774" cy="237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D9488"/>
                </a:solidFill>
                <a:latin typeface="Plus Jakarta Sans"/>
              </a:rPr>
              <a:t>Thông tin Test thử nghiệm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1726" y="2710449"/>
            <a:ext cx="3028774" cy="24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Thương hiệu: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Toyota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1726" y="2967624"/>
            <a:ext cx="3028774" cy="24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Dòng xe: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Camry 2.5Q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1726" y="3224799"/>
            <a:ext cx="3028774" cy="24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Kiểu dáng: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Sedan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1726" y="3481974"/>
            <a:ext cx="3028774" cy="24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Năm sản xuất: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1726" y="3739149"/>
            <a:ext cx="3028774" cy="24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Số km đã đi: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50.000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1726" y="3996324"/>
            <a:ext cx="3028774" cy="24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Xuất xứ: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Nhập khẩu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1726" y="4253499"/>
            <a:ext cx="3028774" cy="243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 dirty="0" err="1">
                <a:solidFill>
                  <a:srgbClr val="334155"/>
                </a:solidFill>
                <a:latin typeface="Plus Jakarta Sans"/>
              </a:rPr>
              <a:t>Nhiên</a:t>
            </a:r>
            <a:r>
              <a:rPr sz="1500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334155"/>
                </a:solidFill>
                <a:latin typeface="Plus Jakarta Sans"/>
              </a:rPr>
              <a:t>liệu</a:t>
            </a:r>
            <a:r>
              <a:rPr sz="1500" b="1" i="0" u="none" dirty="0">
                <a:solidFill>
                  <a:srgbClr val="334155"/>
                </a:solidFill>
                <a:latin typeface="Plus Jakarta Sans"/>
              </a:rPr>
              <a:t> / </a:t>
            </a:r>
            <a:r>
              <a:rPr sz="1500" b="1" i="0" u="none" dirty="0" err="1">
                <a:solidFill>
                  <a:srgbClr val="334155"/>
                </a:solidFill>
                <a:latin typeface="Plus Jakarta Sans"/>
              </a:rPr>
              <a:t>Hộp</a:t>
            </a:r>
            <a:r>
              <a:rPr sz="1500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334155"/>
                </a:solidFill>
                <a:latin typeface="Plus Jakarta Sans"/>
              </a:rPr>
              <a:t>số</a:t>
            </a:r>
            <a:r>
              <a:rPr sz="1500" b="1" i="0" u="none" dirty="0">
                <a:solidFill>
                  <a:srgbClr val="334155"/>
                </a:solidFill>
                <a:latin typeface="Plus Jakarta Sans"/>
              </a:rPr>
              <a:t>:</a:t>
            </a:r>
            <a:r>
              <a:rPr sz="15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Plus Jakarta Sans"/>
              </a:rPr>
              <a:t>Xăng</a:t>
            </a:r>
            <a:r>
              <a:rPr sz="1500" b="0" i="0" u="none" dirty="0">
                <a:solidFill>
                  <a:srgbClr val="334155"/>
                </a:solidFill>
                <a:latin typeface="Plus Jakarta Sans"/>
              </a:rPr>
              <a:t> / </a:t>
            </a:r>
            <a:r>
              <a:rPr sz="1500" b="0" i="0" u="none" dirty="0" err="1">
                <a:solidFill>
                  <a:srgbClr val="334155"/>
                </a:solidFill>
                <a:latin typeface="Plus Jakarta Sans"/>
              </a:rPr>
              <a:t>Số</a:t>
            </a:r>
            <a:r>
              <a:rPr sz="15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Plus Jakarta Sans"/>
              </a:rPr>
              <a:t>tự</a:t>
            </a:r>
            <a:r>
              <a:rPr sz="15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Plus Jakarta Sans"/>
              </a:rPr>
              <a:t>động</a:t>
            </a:r>
            <a:endParaRPr sz="1500" b="0" i="0" u="none" dirty="0">
              <a:solidFill>
                <a:srgbClr val="334155"/>
              </a:solidFill>
              <a:latin typeface="Plus Jakarta San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7695A4F-316F-8971-D8F1-F72A27D4F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44835"/>
            <a:ext cx="7547209" cy="578449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481262"/>
            <a:ext cx="5562600" cy="1247775"/>
          </a:xfrm>
          <a:prstGeom prst="roundRect">
            <a:avLst>
              <a:gd name="adj" fmla="val 9160"/>
            </a:avLst>
          </a:prstGeom>
          <a:solidFill>
            <a:srgbClr val="F0FDFA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72200" y="2481262"/>
            <a:ext cx="55626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881437"/>
            <a:ext cx="55626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3881437"/>
            <a:ext cx="55626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91125" y="2690812"/>
            <a:ext cx="628650" cy="180975"/>
          </a:xfrm>
          <a:prstGeom prst="roundRect">
            <a:avLst>
              <a:gd name="adj" fmla="val 21052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848975" y="2690812"/>
            <a:ext cx="685800" cy="180975"/>
          </a:xfrm>
          <a:prstGeom prst="roundRect">
            <a:avLst>
              <a:gd name="adj" fmla="val 2105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43500" y="4090987"/>
            <a:ext cx="676275" cy="180975"/>
          </a:xfrm>
          <a:prstGeom prst="roundRect">
            <a:avLst>
              <a:gd name="adj" fmla="val 2105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915650" y="4090987"/>
            <a:ext cx="619125" cy="180975"/>
          </a:xfrm>
          <a:prstGeom prst="roundRect">
            <a:avLst>
              <a:gd name="adj" fmla="val 2105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4 — LUỒNG XỬ LÝ &amp;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So sánh Kết quả Dự đoán Thực tế trên Giao diện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2957512"/>
            <a:ext cx="645318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872 Triệu VNĐ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3376612"/>
            <a:ext cx="6453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766E"/>
                </a:solidFill>
                <a:latin typeface="Plus Jakarta Sans"/>
              </a:rPr>
              <a:t>R²: 0.9772 · MAE: 83.3 triệu VNĐ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225" y="2957512"/>
            <a:ext cx="58197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899 Triệu VNĐ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3376612"/>
            <a:ext cx="58197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R²: 0.9676 · MAE: 100.18 triệu VNĐ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4357687"/>
            <a:ext cx="645318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747 Triệu VNĐ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4776787"/>
            <a:ext cx="6453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R²: 0.9429 · MAE: 136.12 triệu VNĐ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2225" y="4357687"/>
            <a:ext cx="58197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729 Triệu VNĐ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4776787"/>
            <a:ext cx="58197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R²: 0.8980 · MAE: 217.15 triệu VNĐ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2681287"/>
            <a:ext cx="3667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766E"/>
                </a:solidFill>
                <a:latin typeface="Plus Jakarta Sans"/>
              </a:rPr>
              <a:t>SUPPORT VECTOR REGRESSION (BEST)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7325" y="2709862"/>
            <a:ext cx="571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21.99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5" y="2681287"/>
            <a:ext cx="3059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LINEAR REGRESSION (BASELINE)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5175" y="2709862"/>
            <a:ext cx="628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Plus Jakarta Sans"/>
              </a:rPr>
              <a:t>164.17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" y="4081462"/>
            <a:ext cx="166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9700" y="4110037"/>
            <a:ext cx="619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Plus Jakarta Sans"/>
              </a:rPr>
              <a:t>159.61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225" y="4081462"/>
            <a:ext cx="1440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DECISION TREE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91850" y="4110037"/>
            <a:ext cx="561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Plus Jakarta Sans"/>
              </a:rPr>
              <a:t>17.36 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199" y="1428750"/>
            <a:ext cx="6257925" cy="2057400"/>
          </a:xfrm>
          <a:prstGeom prst="roundRect">
            <a:avLst>
              <a:gd name="adj" fmla="val 5555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Rounded Rectangle 2"/>
          <p:cNvSpPr/>
          <p:nvPr/>
        </p:nvSpPr>
        <p:spPr>
          <a:xfrm>
            <a:off x="5981700" y="4000500"/>
            <a:ext cx="55245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666875"/>
            <a:ext cx="1524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4238625"/>
            <a:ext cx="19050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95275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5 — KẾT LUẬN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9600"/>
            <a:ext cx="1661993" cy="3211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Kết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luận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Dự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án</a:t>
            </a:r>
            <a:endParaRPr sz="21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7225" y="1628775"/>
            <a:ext cx="1795171" cy="230832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Plus Jakarta Sans"/>
              </a:rPr>
              <a:t>Thành tựu Đạt được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725" y="4200525"/>
            <a:ext cx="1741054" cy="230832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lus Jakarta Sans"/>
              </a:rPr>
              <a:t>Độ tin cậy Kiến trúc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1725" y="4572000"/>
            <a:ext cx="5219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334155"/>
                </a:solidFill>
                <a:latin typeface="Plus Jakarta Sans"/>
              </a:rPr>
              <a:t>Việc cô lập dịch vụ AI Service qua API giúp hệ thống sẵn sàng mở rộng scale-out, thay thế hoặc nâng cấp mô hình học máy mà không làm ảnh hưởng đến giao diện người dùng.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" y="2000250"/>
            <a:ext cx="5219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>
                <a:solidFill>
                  <a:srgbClr val="115E59"/>
                </a:solidFill>
                <a:latin typeface="Plus Jakarta Sans"/>
              </a:rPr>
              <a:t>Chuẩn hóa Pipeline hoàn chỉnh:</a:t>
            </a:r>
            <a:r>
              <a:rPr sz="1500" b="0" i="0" u="none">
                <a:solidFill>
                  <a:srgbClr val="115E59"/>
                </a:solidFill>
                <a:latin typeface="Plus Jakarta Sans"/>
              </a:rPr>
              <a:t> EDA → Tiền xử lý → Train → Model Packaging → Containerization.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2514600"/>
            <a:ext cx="598362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 dirty="0" err="1">
                <a:solidFill>
                  <a:srgbClr val="115E59"/>
                </a:solidFill>
                <a:latin typeface="Plus Jakarta Sans"/>
              </a:rPr>
              <a:t>Mô</a:t>
            </a:r>
            <a:r>
              <a:rPr sz="1500" b="1" i="0" u="none" dirty="0">
                <a:solidFill>
                  <a:srgbClr val="115E59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115E59"/>
                </a:solidFill>
                <a:latin typeface="Plus Jakarta Sans"/>
              </a:rPr>
              <a:t>hình</a:t>
            </a:r>
            <a:r>
              <a:rPr sz="1500" b="1" i="0" u="none" dirty="0">
                <a:solidFill>
                  <a:srgbClr val="115E59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115E59"/>
                </a:solidFill>
                <a:latin typeface="Plus Jakarta Sans"/>
              </a:rPr>
              <a:t>đạt</a:t>
            </a:r>
            <a:r>
              <a:rPr sz="1500" b="1" i="0" u="none" dirty="0">
                <a:solidFill>
                  <a:srgbClr val="115E59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115E59"/>
                </a:solidFill>
                <a:latin typeface="Plus Jakarta Sans"/>
              </a:rPr>
              <a:t>độ</a:t>
            </a:r>
            <a:r>
              <a:rPr sz="1500" b="1" i="0" u="none" dirty="0">
                <a:solidFill>
                  <a:srgbClr val="115E59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115E59"/>
                </a:solidFill>
                <a:latin typeface="Plus Jakarta Sans"/>
              </a:rPr>
              <a:t>chính</a:t>
            </a:r>
            <a:r>
              <a:rPr sz="1500" b="1" i="0" u="none" dirty="0">
                <a:solidFill>
                  <a:srgbClr val="115E59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115E59"/>
                </a:solidFill>
                <a:latin typeface="Plus Jakarta Sans"/>
              </a:rPr>
              <a:t>xác</a:t>
            </a:r>
            <a:r>
              <a:rPr sz="1500" b="1" i="0" u="none" dirty="0">
                <a:solidFill>
                  <a:srgbClr val="115E59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115E59"/>
                </a:solidFill>
                <a:latin typeface="Plus Jakarta Sans"/>
              </a:rPr>
              <a:t>cao</a:t>
            </a:r>
            <a:r>
              <a:rPr sz="1500" b="1" i="0" u="none" dirty="0">
                <a:solidFill>
                  <a:srgbClr val="115E59"/>
                </a:solidFill>
                <a:latin typeface="Plus Jakarta Sans"/>
              </a:rPr>
              <a:t>:</a:t>
            </a:r>
            <a:r>
              <a:rPr sz="1500" b="0" i="0" u="none" dirty="0">
                <a:solidFill>
                  <a:srgbClr val="115E59"/>
                </a:solidFill>
                <a:latin typeface="Plus Jakarta Sans"/>
              </a:rPr>
              <a:t> SVR </a:t>
            </a:r>
            <a:r>
              <a:rPr sz="1500" b="0" i="0" u="none" dirty="0" err="1">
                <a:solidFill>
                  <a:srgbClr val="115E59"/>
                </a:solidFill>
                <a:latin typeface="Plus Jakarta Sans"/>
              </a:rPr>
              <a:t>đạt</a:t>
            </a:r>
            <a:r>
              <a:rPr sz="1500" b="0" i="0" u="none" dirty="0">
                <a:solidFill>
                  <a:srgbClr val="115E59"/>
                </a:solidFill>
                <a:latin typeface="Plus Jakarta Sans"/>
              </a:rPr>
              <a:t> R² = 0.9772 </a:t>
            </a:r>
            <a:r>
              <a:rPr sz="1500" b="0" i="0" u="none" dirty="0" err="1">
                <a:solidFill>
                  <a:srgbClr val="115E59"/>
                </a:solidFill>
                <a:latin typeface="Plus Jakarta Sans"/>
              </a:rPr>
              <a:t>và</a:t>
            </a:r>
            <a:r>
              <a:rPr sz="1500" b="0" i="0" u="none" dirty="0">
                <a:solidFill>
                  <a:srgbClr val="115E59"/>
                </a:solidFill>
                <a:latin typeface="Plus Jakarta Sans"/>
              </a:rPr>
              <a:t> MAE = 83.3 </a:t>
            </a:r>
            <a:r>
              <a:rPr sz="1500" b="0" i="0" u="none" dirty="0" err="1">
                <a:solidFill>
                  <a:srgbClr val="115E59"/>
                </a:solidFill>
                <a:latin typeface="Plus Jakarta Sans"/>
              </a:rPr>
              <a:t>triệu</a:t>
            </a:r>
            <a:r>
              <a:rPr sz="1500" b="0" i="0" u="none" dirty="0">
                <a:solidFill>
                  <a:srgbClr val="115E59"/>
                </a:solidFill>
                <a:latin typeface="Plus Jakarta Sans"/>
              </a:rPr>
              <a:t> VNĐ.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2771775"/>
            <a:ext cx="5219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>
                <a:solidFill>
                  <a:srgbClr val="115E59"/>
                </a:solidFill>
                <a:latin typeface="Plus Jakarta Sans"/>
              </a:rPr>
              <a:t>Hệ thống Real-time:</a:t>
            </a:r>
            <a:r>
              <a:rPr sz="1500" b="0" i="0" u="none">
                <a:solidFill>
                  <a:srgbClr val="115E59"/>
                </a:solidFill>
                <a:latin typeface="Plus Jakarta Sans"/>
              </a:rPr>
              <a:t> Phục vụ dự đoán đồng thời từ 4 mô hình trong thời gian thực.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133475"/>
            <a:ext cx="5058667" cy="5343525"/>
          </a:xfrm>
          <a:prstGeom prst="roundRect">
            <a:avLst>
              <a:gd name="adj" fmla="val 2259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44467" y="1133475"/>
            <a:ext cx="5990332" cy="5343525"/>
          </a:xfrm>
          <a:prstGeom prst="roundRect">
            <a:avLst>
              <a:gd name="adj" fmla="val 21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3424237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492" y="300990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CHƯƠNG 5 — KẾT LUẬN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9600"/>
            <a:ext cx="117348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Hạn chế &amp; Hướng Phát triển Tương lai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" y="3781425"/>
            <a:ext cx="4753867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Dữ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liệu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huấn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luyện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là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giá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rao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bán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trực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tuyến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trên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các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sàn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thương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mại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điện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tử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,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chưa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phản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ánh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100%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giá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giao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dịch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chốt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hợp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đồng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thực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881337"/>
                </a:solidFill>
                <a:latin typeface="Plus Jakarta Sans"/>
              </a:rPr>
              <a:t>tế</a:t>
            </a:r>
            <a:r>
              <a:rPr sz="1500" b="0" i="0" u="none" dirty="0">
                <a:solidFill>
                  <a:srgbClr val="881337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3371850"/>
            <a:ext cx="130138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F1239"/>
                </a:solidFill>
                <a:latin typeface="Plus Jakarta Sans"/>
              </a:rPr>
              <a:t>Hạn chế Hiện tại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0242" y="2957512"/>
            <a:ext cx="219271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Plus Jakarta Sans"/>
              </a:rPr>
              <a:t>Hướng Phát triển Tiếp theo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4492" y="3367087"/>
            <a:ext cx="5805115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Tích hợp Database: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Sử dụng MongoDB lưu lịch sử tra cứu của người dùng.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4492" y="3624262"/>
            <a:ext cx="568553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Tối ưu Hyperparameters: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Áp dụng GridSearchCV / Optuna sâu hơn cho Ensemble Models.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4492" y="4138612"/>
            <a:ext cx="568553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 u="none">
                <a:solidFill>
                  <a:srgbClr val="334155"/>
                </a:solidFill>
                <a:latin typeface="Plus Jakarta Sans"/>
              </a:rPr>
              <a:t>Multi-modal ML: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Kết hợp mô hình xử lý thị giác (Computer Vision) phân tích hình ảnh xe thực tế.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71837" y="4114800"/>
            <a:ext cx="5648325" cy="866775"/>
          </a:xfrm>
          <a:prstGeom prst="roundRect">
            <a:avLst>
              <a:gd name="adj" fmla="val 1318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87642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047875"/>
            <a:ext cx="33337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" y="2714625"/>
            <a:ext cx="12049125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FFFFFF"/>
                </a:solidFill>
                <a:latin typeface="Plus Jakarta Sans"/>
              </a:rPr>
              <a:t>CẢM ƠN THẦY/CÔ VÀ CÁC BẠN ĐÃ LẮNG NGHE!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9765" y="3371850"/>
            <a:ext cx="451246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2DD4BF"/>
                </a:solidFill>
                <a:latin typeface="Plus Jakarta Sans"/>
              </a:rPr>
              <a:t>Q &amp; A — CÂU HỎI VÀ THẢO LUẬN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3953" y="4314825"/>
            <a:ext cx="6084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4A3B8"/>
                </a:solidFill>
                <a:latin typeface="Plus Jakarta Sans"/>
              </a:rPr>
              <a:t>SINH VIÊN THỰC HIỆN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3953" y="4562475"/>
            <a:ext cx="60840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Đỗ Văn Nghĩa (10123237) — Nguyễn Hoàng Nhất (10123242)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2548</Words>
  <Application>Microsoft Office PowerPoint</Application>
  <PresentationFormat>Widescreen</PresentationFormat>
  <Paragraphs>310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Calibri</vt:lpstr>
      <vt:lpstr>Plus Jakarta Sans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Nhất Hoàng</cp:lastModifiedBy>
  <cp:revision>2</cp:revision>
  <dcterms:created xsi:type="dcterms:W3CDTF">2013-01-27T09:14:16Z</dcterms:created>
  <dcterms:modified xsi:type="dcterms:W3CDTF">2026-10-02T18:22:04Z</dcterms:modified>
  <cp:category/>
</cp:coreProperties>
</file>