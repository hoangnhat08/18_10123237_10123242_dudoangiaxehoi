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80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81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92000" cy="6858000"/>
  <p:notesSz cx="6858000" cy="9144000"/>
  <p:embeddedFontLst>
    <p:embeddedFont>
      <p:font typeface="JetBrains Mono"/>
      <p:regular r:id="rId29"/>
    </p:embeddedFont>
    <p:embeddedFont>
      <p:font typeface="Plus Jakarta Sans"/>
      <p:bold r:id="rId3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67CA4B-3A7E-4BA6-A85B-E20443235B0D}" type="datetimeFigureOut">
              <a:rPr lang="vi-VN" smtClean="0"/>
              <a:t>03/10/2026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EB01C6-151A-4024-BDB7-3E7CA93F6BF5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07133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EB01C6-151A-4024-BDB7-3E7CA93F6BF5}" type="slidenum">
              <a:rPr lang="vi-VN" smtClean="0"/>
              <a:t>24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780887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3841402"/>
            <a:ext cx="106680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1902172"/>
            <a:ext cx="1181100" cy="28575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62000" y="2416522"/>
            <a:ext cx="11430000" cy="5485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3600" b="1" i="0" u="none">
                <a:solidFill>
                  <a:srgbClr val="FFFFFF"/>
                </a:solidFill>
                <a:latin typeface="Plus Jakarta Sans"/>
              </a:rPr>
              <a:t>DỰ ĐOÁN GIÁ XE Ô TÔ CŨ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17502"/>
            <a:ext cx="6613798" cy="25276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1" i="0" u="none" dirty="0" err="1">
                <a:solidFill>
                  <a:srgbClr val="2DD4BF"/>
                </a:solidFill>
                <a:latin typeface="Plus Jakarta Sans"/>
              </a:rPr>
              <a:t>Phân</a:t>
            </a:r>
            <a:r>
              <a:rPr sz="1500" b="1" i="0" u="none" dirty="0">
                <a:solidFill>
                  <a:srgbClr val="2DD4BF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2DD4BF"/>
                </a:solidFill>
                <a:latin typeface="Plus Jakarta Sans"/>
              </a:rPr>
              <a:t>tích</a:t>
            </a:r>
            <a:r>
              <a:rPr sz="1500" b="1" i="0" u="none" dirty="0">
                <a:solidFill>
                  <a:srgbClr val="2DD4BF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2DD4BF"/>
                </a:solidFill>
                <a:latin typeface="Plus Jakarta Sans"/>
              </a:rPr>
              <a:t>dữ</a:t>
            </a:r>
            <a:r>
              <a:rPr sz="1500" b="1" i="0" u="none" dirty="0">
                <a:solidFill>
                  <a:srgbClr val="2DD4BF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2DD4BF"/>
                </a:solidFill>
                <a:latin typeface="Plus Jakarta Sans"/>
              </a:rPr>
              <a:t>liệu</a:t>
            </a:r>
            <a:r>
              <a:rPr sz="1500" b="1" i="0" u="none" dirty="0">
                <a:solidFill>
                  <a:srgbClr val="2DD4BF"/>
                </a:solidFill>
                <a:latin typeface="Plus Jakarta Sans"/>
              </a:rPr>
              <a:t> (EDA) · So </a:t>
            </a:r>
            <a:r>
              <a:rPr sz="1500" b="1" i="0" u="none" dirty="0" err="1">
                <a:solidFill>
                  <a:srgbClr val="2DD4BF"/>
                </a:solidFill>
                <a:latin typeface="Plus Jakarta Sans"/>
              </a:rPr>
              <a:t>sánh</a:t>
            </a:r>
            <a:r>
              <a:rPr sz="1500" b="1" i="0" u="none" dirty="0">
                <a:solidFill>
                  <a:srgbClr val="2DD4BF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2DD4BF"/>
                </a:solidFill>
                <a:latin typeface="Plus Jakarta Sans"/>
              </a:rPr>
              <a:t>mô</a:t>
            </a:r>
            <a:r>
              <a:rPr sz="1500" b="1" i="0" u="none" dirty="0">
                <a:solidFill>
                  <a:srgbClr val="2DD4BF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2DD4BF"/>
                </a:solidFill>
                <a:latin typeface="Plus Jakarta Sans"/>
              </a:rPr>
              <a:t>hình</a:t>
            </a:r>
            <a:r>
              <a:rPr sz="1500" b="1" i="0" u="none" dirty="0">
                <a:solidFill>
                  <a:srgbClr val="2DD4BF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2DD4BF"/>
                </a:solidFill>
                <a:latin typeface="Plus Jakarta Sans"/>
              </a:rPr>
              <a:t>học</a:t>
            </a:r>
            <a:r>
              <a:rPr sz="1500" b="1" i="0" u="none" dirty="0">
                <a:solidFill>
                  <a:srgbClr val="2DD4BF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2DD4BF"/>
                </a:solidFill>
                <a:latin typeface="Plus Jakarta Sans"/>
              </a:rPr>
              <a:t>máy</a:t>
            </a:r>
            <a:r>
              <a:rPr sz="1500" b="1" i="0" u="none" dirty="0">
                <a:solidFill>
                  <a:srgbClr val="2DD4BF"/>
                </a:solidFill>
                <a:latin typeface="Plus Jakarta Sans"/>
              </a:rPr>
              <a:t> · </a:t>
            </a:r>
            <a:r>
              <a:rPr sz="1500" b="1" i="0" u="none" dirty="0" err="1">
                <a:solidFill>
                  <a:srgbClr val="2DD4BF"/>
                </a:solidFill>
                <a:latin typeface="Plus Jakarta Sans"/>
              </a:rPr>
              <a:t>Kiến</a:t>
            </a:r>
            <a:r>
              <a:rPr sz="1500" b="1" i="0" u="none" dirty="0">
                <a:solidFill>
                  <a:srgbClr val="2DD4BF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2DD4BF"/>
                </a:solidFill>
                <a:latin typeface="Plus Jakarta Sans"/>
              </a:rPr>
              <a:t>trúc</a:t>
            </a:r>
            <a:r>
              <a:rPr sz="1500" b="1" i="0" u="none" dirty="0">
                <a:solidFill>
                  <a:srgbClr val="2DD4BF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2DD4BF"/>
                </a:solidFill>
                <a:latin typeface="Plus Jakarta Sans"/>
              </a:rPr>
              <a:t>hệ</a:t>
            </a:r>
            <a:r>
              <a:rPr sz="1500" b="1" i="0" u="none" dirty="0">
                <a:solidFill>
                  <a:srgbClr val="2DD4BF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2DD4BF"/>
                </a:solidFill>
                <a:latin typeface="Plus Jakarta Sans"/>
              </a:rPr>
              <a:t>thống</a:t>
            </a:r>
            <a:r>
              <a:rPr sz="1500" b="1" i="0" u="none" dirty="0">
                <a:solidFill>
                  <a:srgbClr val="2DD4BF"/>
                </a:solidFill>
                <a:latin typeface="Plus Jakarta Sans"/>
              </a:rPr>
              <a:t> &amp; </a:t>
            </a:r>
            <a:r>
              <a:rPr sz="1500" b="1" i="0" u="none" dirty="0" err="1">
                <a:solidFill>
                  <a:srgbClr val="2DD4BF"/>
                </a:solidFill>
                <a:latin typeface="Plus Jakarta Sans"/>
              </a:rPr>
              <a:t>Triển</a:t>
            </a:r>
            <a:r>
              <a:rPr sz="1500" b="1" i="0" u="none" dirty="0">
                <a:solidFill>
                  <a:srgbClr val="2DD4BF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2DD4BF"/>
                </a:solidFill>
                <a:latin typeface="Plus Jakarta Sans"/>
              </a:rPr>
              <a:t>khai</a:t>
            </a:r>
            <a:endParaRPr sz="1500" b="1" i="0" u="none" dirty="0">
              <a:solidFill>
                <a:srgbClr val="2DD4BF"/>
              </a:solidFill>
              <a:latin typeface="Plus Jakarta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95350" y="1959322"/>
            <a:ext cx="10096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Plus Jakarta Sans"/>
              </a:rPr>
              <a:t>BÀI TẬP LỚN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945034"/>
            <a:ext cx="1845468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94A3B8"/>
                </a:solidFill>
                <a:latin typeface="Plus Jakarta Sans"/>
              </a:rPr>
              <a:t>HỌC MÁY CƠ BẢN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231927"/>
            <a:ext cx="1761893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94A3B8"/>
                </a:solidFill>
                <a:latin typeface="Plus Jakarta Sans"/>
              </a:rPr>
              <a:t>SINH VIÊN THỰC HIỆN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9577"/>
            <a:ext cx="2119747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 dirty="0" err="1">
                <a:solidFill>
                  <a:srgbClr val="FFFFFF"/>
                </a:solidFill>
                <a:latin typeface="Plus Jakarta Sans"/>
              </a:rPr>
              <a:t>Đỗ</a:t>
            </a:r>
            <a:r>
              <a:rPr sz="1500" b="1" i="0" u="none" dirty="0">
                <a:solidFill>
                  <a:srgbClr val="FFFFFF"/>
                </a:solidFill>
                <a:latin typeface="Plus Jakarta Sans"/>
              </a:rPr>
              <a:t> Văn Nghĩa — 10123237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736752"/>
            <a:ext cx="2642583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FFFFFF"/>
                </a:solidFill>
                <a:latin typeface="Plus Jakarta Sans"/>
              </a:rPr>
              <a:t>Nguyễn Hoàng Nhất — 10123242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0648" y="4527202"/>
            <a:ext cx="1379352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 i="0" u="none">
                <a:solidFill>
                  <a:srgbClr val="94A3B8"/>
                </a:solidFill>
                <a:latin typeface="Plus Jakarta Sans"/>
              </a:rPr>
              <a:t>ĐƠN VỊ ĐÀO TẠO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8686" y="4736752"/>
            <a:ext cx="3631314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 i="0" u="none">
                <a:solidFill>
                  <a:srgbClr val="F8FAFC"/>
                </a:solidFill>
                <a:latin typeface="Plus Jakarta Sans"/>
              </a:rPr>
              <a:t>Trường Đại học Công nghệ Kỹ thuật Hưng Yên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1133475"/>
            <a:ext cx="5724525" cy="5343525"/>
          </a:xfrm>
          <a:prstGeom prst="roundRect">
            <a:avLst>
              <a:gd name="adj" fmla="val 2139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" name="Rounded Rectangle 2"/>
          <p:cNvSpPr/>
          <p:nvPr/>
        </p:nvSpPr>
        <p:spPr>
          <a:xfrm>
            <a:off x="657225" y="4065240"/>
            <a:ext cx="5324475" cy="752475"/>
          </a:xfrm>
          <a:prstGeom prst="roundRect">
            <a:avLst>
              <a:gd name="adj" fmla="val 10126"/>
            </a:avLst>
          </a:prstGeom>
          <a:solidFill>
            <a:srgbClr val="FFFFFF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4" name="Rounded Rectangle 3"/>
          <p:cNvSpPr/>
          <p:nvPr/>
        </p:nvSpPr>
        <p:spPr>
          <a:xfrm>
            <a:off x="6410325" y="1133475"/>
            <a:ext cx="5324475" cy="2395983"/>
          </a:xfrm>
          <a:prstGeom prst="roundRect">
            <a:avLst>
              <a:gd name="adj" fmla="val 477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5" name="Rounded Rectangle 4"/>
          <p:cNvSpPr/>
          <p:nvPr/>
        </p:nvSpPr>
        <p:spPr>
          <a:xfrm>
            <a:off x="6410325" y="3681858"/>
            <a:ext cx="5324475" cy="2795141"/>
          </a:xfrm>
          <a:prstGeom prst="roundRect">
            <a:avLst>
              <a:gd name="adj" fmla="val 408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6" name="Rounded Rectangle 5"/>
          <p:cNvSpPr/>
          <p:nvPr/>
        </p:nvSpPr>
        <p:spPr>
          <a:xfrm>
            <a:off x="6610350" y="1743075"/>
            <a:ext cx="542925" cy="295275"/>
          </a:xfrm>
          <a:prstGeom prst="roundRect">
            <a:avLst>
              <a:gd name="adj" fmla="val 19354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7" name="Rounded Rectangle 6"/>
          <p:cNvSpPr/>
          <p:nvPr/>
        </p:nvSpPr>
        <p:spPr>
          <a:xfrm>
            <a:off x="7248525" y="1743075"/>
            <a:ext cx="1057275" cy="295275"/>
          </a:xfrm>
          <a:prstGeom prst="roundRect">
            <a:avLst>
              <a:gd name="adj" fmla="val 19354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8" name="Rounded Rectangle 7"/>
          <p:cNvSpPr/>
          <p:nvPr/>
        </p:nvSpPr>
        <p:spPr>
          <a:xfrm>
            <a:off x="8401050" y="1743075"/>
            <a:ext cx="1219200" cy="295275"/>
          </a:xfrm>
          <a:prstGeom prst="roundRect">
            <a:avLst>
              <a:gd name="adj" fmla="val 19354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9" name="Rounded Rectangle 8"/>
          <p:cNvSpPr/>
          <p:nvPr/>
        </p:nvSpPr>
        <p:spPr>
          <a:xfrm>
            <a:off x="9715500" y="1743075"/>
            <a:ext cx="1181100" cy="295275"/>
          </a:xfrm>
          <a:prstGeom prst="roundRect">
            <a:avLst>
              <a:gd name="adj" fmla="val 19354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0" name="Rounded Rectangle 9"/>
          <p:cNvSpPr/>
          <p:nvPr/>
        </p:nvSpPr>
        <p:spPr>
          <a:xfrm>
            <a:off x="6610350" y="4291458"/>
            <a:ext cx="600075" cy="28575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1" name="Rounded Rectangle 10"/>
          <p:cNvSpPr/>
          <p:nvPr/>
        </p:nvSpPr>
        <p:spPr>
          <a:xfrm>
            <a:off x="7286625" y="4291458"/>
            <a:ext cx="638175" cy="28575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2" name="Rounded Rectangle 11"/>
          <p:cNvSpPr/>
          <p:nvPr/>
        </p:nvSpPr>
        <p:spPr>
          <a:xfrm>
            <a:off x="8001000" y="4291458"/>
            <a:ext cx="609600" cy="28575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3" name="Rounded Rectangle 12"/>
          <p:cNvSpPr/>
          <p:nvPr/>
        </p:nvSpPr>
        <p:spPr>
          <a:xfrm>
            <a:off x="8686800" y="4291458"/>
            <a:ext cx="1285875" cy="28575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4" name="Rounded Rectangle 13"/>
          <p:cNvSpPr/>
          <p:nvPr/>
        </p:nvSpPr>
        <p:spPr>
          <a:xfrm>
            <a:off x="10048875" y="4291458"/>
            <a:ext cx="1057275" cy="28575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5" name="Rounded Rectangle 14"/>
          <p:cNvSpPr/>
          <p:nvPr/>
        </p:nvSpPr>
        <p:spPr>
          <a:xfrm>
            <a:off x="6610350" y="4653408"/>
            <a:ext cx="1028700" cy="28575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2792759"/>
            <a:ext cx="381000" cy="3810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475" y="2888009"/>
            <a:ext cx="190500" cy="1905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350" y="1395412"/>
            <a:ext cx="133350" cy="1714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0350" y="3943796"/>
            <a:ext cx="171450" cy="1714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381000"/>
            <a:ext cx="2025106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0" u="none" dirty="0">
                <a:solidFill>
                  <a:srgbClr val="0D9488"/>
                </a:solidFill>
                <a:latin typeface="Plus Jakarta Sans"/>
              </a:rPr>
              <a:t>CHƯƠNG 1 — TỔNG QUAN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09600"/>
            <a:ext cx="1815818" cy="30418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1600" b="1" i="0" u="none" dirty="0" err="1">
                <a:solidFill>
                  <a:srgbClr val="0F172A"/>
                </a:solidFill>
                <a:latin typeface="Plus Jakarta Sans"/>
              </a:rPr>
              <a:t>Bài</a:t>
            </a:r>
            <a:r>
              <a:rPr sz="16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Plus Jakarta Sans"/>
              </a:rPr>
              <a:t>toán</a:t>
            </a:r>
            <a:r>
              <a:rPr sz="1600" b="1" i="0" u="none" dirty="0">
                <a:solidFill>
                  <a:srgbClr val="0F172A"/>
                </a:solidFill>
                <a:latin typeface="Plus Jakarta Sans"/>
              </a:rPr>
              <a:t> &amp; </a:t>
            </a:r>
            <a:r>
              <a:rPr sz="1600" b="1" i="0" u="none" dirty="0" err="1">
                <a:solidFill>
                  <a:srgbClr val="0F172A"/>
                </a:solidFill>
                <a:latin typeface="Plus Jakarta Sans"/>
              </a:rPr>
              <a:t>Bộ</a:t>
            </a:r>
            <a:r>
              <a:rPr sz="16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Plus Jakarta Sans"/>
              </a:rPr>
              <a:t>dữ</a:t>
            </a:r>
            <a:r>
              <a:rPr sz="16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Plus Jakarta Sans"/>
              </a:rPr>
              <a:t>liệu</a:t>
            </a:r>
            <a:endParaRPr sz="16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7225" y="3326159"/>
            <a:ext cx="54197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Dự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đoán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giá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rao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bán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của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xe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ô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tô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cũ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(</a:t>
            </a:r>
            <a:r>
              <a:rPr sz="1400" b="1" i="0" u="none" dirty="0">
                <a:solidFill>
                  <a:srgbClr val="166534"/>
                </a:solidFill>
                <a:latin typeface="Plus Jakarta Sans"/>
              </a:rPr>
              <a:t>price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,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đơn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vị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: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triệu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VNĐ)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dựa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trên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các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đặc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điểm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kỹ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thuật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,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năm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sản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xuất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,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tình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trạng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và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xuất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166534"/>
                </a:solidFill>
                <a:latin typeface="Plus Jakarta Sans"/>
              </a:rPr>
              <a:t>xứ</a:t>
            </a:r>
            <a:r>
              <a:rPr sz="1400" b="0" i="0" u="none" dirty="0">
                <a:solidFill>
                  <a:srgbClr val="166534"/>
                </a:solidFill>
                <a:latin typeface="Plus Jakarta Sans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525" y="2849909"/>
            <a:ext cx="3267754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0" u="none" dirty="0" err="1">
                <a:solidFill>
                  <a:srgbClr val="14532D"/>
                </a:solidFill>
                <a:latin typeface="Plus Jakarta Sans"/>
              </a:rPr>
              <a:t>Hồi</a:t>
            </a:r>
            <a:r>
              <a:rPr sz="1400" b="1" i="0" u="none" dirty="0">
                <a:solidFill>
                  <a:srgbClr val="14532D"/>
                </a:solidFill>
                <a:latin typeface="Plus Jakarta Sans"/>
              </a:rPr>
              <a:t> </a:t>
            </a:r>
            <a:r>
              <a:rPr sz="1400" b="1" i="0" u="none" dirty="0" err="1">
                <a:solidFill>
                  <a:srgbClr val="14532D"/>
                </a:solidFill>
                <a:latin typeface="Plus Jakarta Sans"/>
              </a:rPr>
              <a:t>quy</a:t>
            </a:r>
            <a:r>
              <a:rPr sz="1400" b="1" i="0" u="none" dirty="0">
                <a:solidFill>
                  <a:srgbClr val="14532D"/>
                </a:solidFill>
                <a:latin typeface="Plus Jakarta Sans"/>
              </a:rPr>
              <a:t> </a:t>
            </a:r>
            <a:r>
              <a:rPr sz="1400" b="1" i="0" u="none" dirty="0" err="1">
                <a:solidFill>
                  <a:srgbClr val="14532D"/>
                </a:solidFill>
                <a:latin typeface="Plus Jakarta Sans"/>
              </a:rPr>
              <a:t>có</a:t>
            </a:r>
            <a:r>
              <a:rPr sz="1400" b="1" i="0" u="none" dirty="0">
                <a:solidFill>
                  <a:srgbClr val="14532D"/>
                </a:solidFill>
                <a:latin typeface="Plus Jakarta Sans"/>
              </a:rPr>
              <a:t> </a:t>
            </a:r>
            <a:r>
              <a:rPr sz="1400" b="1" i="0" u="none" dirty="0" err="1">
                <a:solidFill>
                  <a:srgbClr val="14532D"/>
                </a:solidFill>
                <a:latin typeface="Plus Jakarta Sans"/>
              </a:rPr>
              <a:t>giám</a:t>
            </a:r>
            <a:r>
              <a:rPr sz="1400" b="1" i="0" u="none" dirty="0">
                <a:solidFill>
                  <a:srgbClr val="14532D"/>
                </a:solidFill>
                <a:latin typeface="Plus Jakarta Sans"/>
              </a:rPr>
              <a:t> </a:t>
            </a:r>
            <a:r>
              <a:rPr sz="1400" b="1" i="0" u="none" dirty="0" err="1">
                <a:solidFill>
                  <a:srgbClr val="14532D"/>
                </a:solidFill>
                <a:latin typeface="Plus Jakarta Sans"/>
              </a:rPr>
              <a:t>sát</a:t>
            </a:r>
            <a:r>
              <a:rPr sz="1400" b="1" i="0" u="none" dirty="0">
                <a:solidFill>
                  <a:srgbClr val="14532D"/>
                </a:solidFill>
                <a:latin typeface="Plus Jakarta Sans"/>
              </a:rPr>
              <a:t> (Supervised Regression)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150" y="4227165"/>
            <a:ext cx="1871218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15803D"/>
                </a:solidFill>
                <a:latin typeface="Plus Jakarta Sans"/>
              </a:rPr>
              <a:t>BIẾN MỤC TIÊU (TARGET)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150" y="4436715"/>
            <a:ext cx="2561342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0F172A"/>
                </a:solidFill>
                <a:latin typeface="Plus Jakarta Sans"/>
              </a:rPr>
              <a:t>price — Giá rao bán xe (triệu VNĐ)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8950" y="1333500"/>
            <a:ext cx="2937407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0F172A"/>
                </a:solidFill>
                <a:latin typeface="Plus Jakarta Sans"/>
              </a:rPr>
              <a:t>4 Biến định lượng (Numerical Features)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4650" y="1800225"/>
            <a:ext cx="40957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0369A1"/>
                </a:solidFill>
                <a:latin typeface="Plus Jakarta Sans"/>
              </a:rPr>
              <a:t>year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2825" y="1800225"/>
            <a:ext cx="92392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0369A1"/>
                </a:solidFill>
                <a:latin typeface="Plus Jakarta Sans"/>
              </a:rPr>
              <a:t>driven_kms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15350" y="1800225"/>
            <a:ext cx="108585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0369A1"/>
                </a:solidFill>
                <a:latin typeface="Plus Jakarta Sans"/>
              </a:rPr>
              <a:t>num_of_door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00225"/>
            <a:ext cx="104775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 dirty="0" err="1">
                <a:solidFill>
                  <a:srgbClr val="0369A1"/>
                </a:solidFill>
                <a:latin typeface="Plus Jakarta Sans"/>
              </a:rPr>
              <a:t>num_of_seat</a:t>
            </a:r>
            <a:endParaRPr sz="1400" b="1" i="0" u="none" dirty="0">
              <a:solidFill>
                <a:srgbClr val="0369A1"/>
              </a:solidFill>
              <a:latin typeface="Plus Jakarta San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877050" y="3881883"/>
            <a:ext cx="2840458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0" u="none" dirty="0">
                <a:solidFill>
                  <a:srgbClr val="0F172A"/>
                </a:solidFill>
                <a:latin typeface="Plus Jakarta Sans"/>
              </a:rPr>
              <a:t>6 </a:t>
            </a:r>
            <a:r>
              <a:rPr sz="1400" b="1" i="0" u="none" dirty="0" err="1">
                <a:solidFill>
                  <a:srgbClr val="0F172A"/>
                </a:solidFill>
                <a:latin typeface="Plus Jakarta Sans"/>
              </a:rPr>
              <a:t>Biến</a:t>
            </a:r>
            <a:r>
              <a:rPr sz="14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400" b="1" i="0" u="none" dirty="0" err="1">
                <a:solidFill>
                  <a:srgbClr val="0F172A"/>
                </a:solidFill>
                <a:latin typeface="Plus Jakarta Sans"/>
              </a:rPr>
              <a:t>định</a:t>
            </a:r>
            <a:r>
              <a:rPr sz="14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400" b="1" i="0" u="none" dirty="0" err="1">
                <a:solidFill>
                  <a:srgbClr val="0F172A"/>
                </a:solidFill>
                <a:latin typeface="Plus Jakarta Sans"/>
              </a:rPr>
              <a:t>tính</a:t>
            </a:r>
            <a:r>
              <a:rPr sz="1400" b="1" i="0" u="none" dirty="0">
                <a:solidFill>
                  <a:srgbClr val="0F172A"/>
                </a:solidFill>
                <a:latin typeface="Plus Jakarta Sans"/>
              </a:rPr>
              <a:t> (Categorical Features)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4650" y="4348608"/>
            <a:ext cx="46672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 dirty="0">
                <a:solidFill>
                  <a:srgbClr val="334155"/>
                </a:solidFill>
                <a:latin typeface="Plus Jakarta Sans"/>
              </a:rPr>
              <a:t>brand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0925" y="4348608"/>
            <a:ext cx="50482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 dirty="0">
                <a:solidFill>
                  <a:srgbClr val="334155"/>
                </a:solidFill>
                <a:latin typeface="Plus Jakarta Sans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5300" y="4348608"/>
            <a:ext cx="47625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 dirty="0">
                <a:solidFill>
                  <a:srgbClr val="334155"/>
                </a:solidFill>
                <a:latin typeface="Plus Jakarta Sans"/>
              </a:rPr>
              <a:t>series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01100" y="4348608"/>
            <a:ext cx="136207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 dirty="0" err="1">
                <a:solidFill>
                  <a:srgbClr val="334155"/>
                </a:solidFill>
                <a:latin typeface="Plus Jakarta Sans"/>
              </a:rPr>
              <a:t>assemble_place</a:t>
            </a:r>
            <a:endParaRPr sz="1400" b="1" i="0" u="none" dirty="0">
              <a:solidFill>
                <a:srgbClr val="334155"/>
              </a:solidFill>
              <a:latin typeface="Plus Jakarta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163175" y="4348608"/>
            <a:ext cx="92392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 dirty="0" err="1">
                <a:solidFill>
                  <a:srgbClr val="334155"/>
                </a:solidFill>
                <a:latin typeface="Plus Jakarta Sans"/>
              </a:rPr>
              <a:t>engine_type</a:t>
            </a:r>
            <a:endParaRPr sz="1400" b="1" i="0" u="none" dirty="0">
              <a:solidFill>
                <a:srgbClr val="334155"/>
              </a:solidFill>
              <a:latin typeface="Plus Jakarta San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724650" y="4710558"/>
            <a:ext cx="120015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 dirty="0">
                <a:solidFill>
                  <a:srgbClr val="334155"/>
                </a:solidFill>
                <a:latin typeface="Plus Jakarta Sans"/>
              </a:rPr>
              <a:t>transmission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724150"/>
            <a:ext cx="2676525" cy="2162175"/>
          </a:xfrm>
          <a:prstGeom prst="roundRect">
            <a:avLst>
              <a:gd name="adj" fmla="val 5286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3" name="Rounded Rectangle 2"/>
          <p:cNvSpPr/>
          <p:nvPr/>
        </p:nvSpPr>
        <p:spPr>
          <a:xfrm>
            <a:off x="3324225" y="2724150"/>
            <a:ext cx="2676525" cy="2162175"/>
          </a:xfrm>
          <a:prstGeom prst="roundRect">
            <a:avLst>
              <a:gd name="adj" fmla="val 528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4" name="Rounded Rectangle 3"/>
          <p:cNvSpPr/>
          <p:nvPr/>
        </p:nvSpPr>
        <p:spPr>
          <a:xfrm>
            <a:off x="6191250" y="2724150"/>
            <a:ext cx="2676525" cy="2162175"/>
          </a:xfrm>
          <a:prstGeom prst="roundRect">
            <a:avLst>
              <a:gd name="adj" fmla="val 5286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5" name="Rounded Rectangle 4"/>
          <p:cNvSpPr/>
          <p:nvPr/>
        </p:nvSpPr>
        <p:spPr>
          <a:xfrm>
            <a:off x="9058275" y="2638425"/>
            <a:ext cx="2676525" cy="2333625"/>
          </a:xfrm>
          <a:prstGeom prst="roundRect">
            <a:avLst>
              <a:gd name="adj" fmla="val 489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112" y="3076575"/>
            <a:ext cx="266700" cy="3048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0087" y="3076575"/>
            <a:ext cx="304800" cy="3048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7112" y="3076575"/>
            <a:ext cx="304800" cy="3048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5087" y="2990850"/>
            <a:ext cx="342900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1 — TỔNG QUAN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F172A"/>
                </a:solidFill>
                <a:latin typeface="Plus Jakarta Sans"/>
              </a:rPr>
              <a:t>Tổng quan Dữ liệu &amp; Chỉ số Chính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5249" y="3533775"/>
            <a:ext cx="108042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3000" b="1" i="0" u="none" dirty="0">
                <a:solidFill>
                  <a:srgbClr val="0F766E"/>
                </a:solidFill>
                <a:latin typeface="Plus Jakarta Sans"/>
              </a:rPr>
              <a:t>24.723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02538" y="4105275"/>
            <a:ext cx="985847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Plus Jakarta Sans"/>
              </a:rPr>
              <a:t>Bản ghi sạch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298" y="4362450"/>
            <a:ext cx="2736327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0" i="0" u="none" dirty="0" err="1">
                <a:solidFill>
                  <a:srgbClr val="64748B"/>
                </a:solidFill>
                <a:latin typeface="Plus Jakarta Sans"/>
              </a:rPr>
              <a:t>Đã</a:t>
            </a:r>
            <a:r>
              <a:rPr sz="15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64748B"/>
                </a:solidFill>
                <a:latin typeface="Plus Jakarta Sans"/>
              </a:rPr>
              <a:t>làm</a:t>
            </a:r>
            <a:r>
              <a:rPr sz="15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64748B"/>
                </a:solidFill>
                <a:latin typeface="Plus Jakarta Sans"/>
              </a:rPr>
              <a:t>sạch</a:t>
            </a:r>
            <a:r>
              <a:rPr sz="15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64748B"/>
                </a:solidFill>
                <a:latin typeface="Plus Jakarta Sans"/>
              </a:rPr>
              <a:t>từ</a:t>
            </a:r>
            <a:r>
              <a:rPr sz="1500" b="0" i="0" u="none" dirty="0">
                <a:solidFill>
                  <a:srgbClr val="64748B"/>
                </a:solidFill>
                <a:latin typeface="Plus Jakarta Sans"/>
              </a:rPr>
              <a:t> 27.000+ </a:t>
            </a:r>
            <a:r>
              <a:rPr sz="1500" b="0" i="0" u="none" dirty="0" err="1">
                <a:solidFill>
                  <a:srgbClr val="64748B"/>
                </a:solidFill>
                <a:latin typeface="Plus Jakarta Sans"/>
              </a:rPr>
              <a:t>dữ</a:t>
            </a:r>
            <a:r>
              <a:rPr sz="15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64748B"/>
                </a:solidFill>
                <a:latin typeface="Plus Jakarta Sans"/>
              </a:rPr>
              <a:t>liệu</a:t>
            </a:r>
            <a:r>
              <a:rPr sz="15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64748B"/>
                </a:solidFill>
                <a:latin typeface="Plus Jakarta Sans"/>
              </a:rPr>
              <a:t>thô</a:t>
            </a:r>
            <a:endParaRPr sz="1500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66921" y="3533775"/>
            <a:ext cx="391133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3000" b="1" i="0" u="none">
                <a:solidFill>
                  <a:srgbClr val="0369A1"/>
                </a:solidFill>
                <a:latin typeface="Plus Jakarta Sans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2290" y="4105275"/>
            <a:ext cx="1200392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Plus Jakarta Sans"/>
              </a:rPr>
              <a:t>Trường dữ liệu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3535" y="4362450"/>
            <a:ext cx="2637902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0" i="0" u="none" dirty="0">
                <a:solidFill>
                  <a:srgbClr val="64748B"/>
                </a:solidFill>
                <a:latin typeface="Plus Jakarta Sans"/>
              </a:rPr>
              <a:t>4 </a:t>
            </a:r>
            <a:r>
              <a:rPr sz="1500" b="0" i="0" u="none" dirty="0" err="1">
                <a:solidFill>
                  <a:srgbClr val="64748B"/>
                </a:solidFill>
                <a:latin typeface="Plus Jakarta Sans"/>
              </a:rPr>
              <a:t>định</a:t>
            </a:r>
            <a:r>
              <a:rPr sz="15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64748B"/>
                </a:solidFill>
                <a:latin typeface="Plus Jakarta Sans"/>
              </a:rPr>
              <a:t>lượng</a:t>
            </a:r>
            <a:r>
              <a:rPr sz="1500" b="0" i="0" u="none" dirty="0">
                <a:solidFill>
                  <a:srgbClr val="64748B"/>
                </a:solidFill>
                <a:latin typeface="Plus Jakarta Sans"/>
              </a:rPr>
              <a:t>, 6 </a:t>
            </a:r>
            <a:r>
              <a:rPr sz="1500" b="0" i="0" u="none" dirty="0" err="1">
                <a:solidFill>
                  <a:srgbClr val="64748B"/>
                </a:solidFill>
                <a:latin typeface="Plus Jakarta Sans"/>
              </a:rPr>
              <a:t>định</a:t>
            </a:r>
            <a:r>
              <a:rPr sz="15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64748B"/>
                </a:solidFill>
                <a:latin typeface="Plus Jakarta Sans"/>
              </a:rPr>
              <a:t>tính</a:t>
            </a:r>
            <a:r>
              <a:rPr sz="1500" b="0" i="0" u="none" dirty="0">
                <a:solidFill>
                  <a:srgbClr val="64748B"/>
                </a:solidFill>
                <a:latin typeface="Plus Jakarta Sans"/>
              </a:rPr>
              <a:t>, 1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9299" y="3533775"/>
            <a:ext cx="108042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3000" b="1" i="0" u="none">
                <a:solidFill>
                  <a:srgbClr val="15803D"/>
                </a:solidFill>
                <a:latin typeface="Plus Jakarta Sans"/>
              </a:rPr>
              <a:t>0.9772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85777" y="4105275"/>
            <a:ext cx="1287468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Plus Jakarta Sans"/>
              </a:rPr>
              <a:t>R² Test Cao nhất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7594" y="4362450"/>
            <a:ext cx="2763834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64748B"/>
                </a:solidFill>
                <a:latin typeface="Plus Jakarta Sans"/>
              </a:rPr>
              <a:t>Mô hình Support Vector Regression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3740" y="3581400"/>
            <a:ext cx="2845593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3600" b="1" i="0" u="none" dirty="0">
                <a:solidFill>
                  <a:srgbClr val="4F46E5"/>
                </a:solidFill>
                <a:latin typeface="Plus Jakarta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3740" y="4019550"/>
            <a:ext cx="2845593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Plus Jakarta Sans"/>
              </a:rPr>
              <a:t>Mô hình So sánh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3740" y="4276725"/>
            <a:ext cx="284559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Plus Jakarta Sans"/>
              </a:rPr>
              <a:t>SVR, Linear, Random Forest, Decision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6427" y="5312566"/>
            <a:ext cx="4909691" cy="871537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68460" y="4867273"/>
            <a:ext cx="4909691" cy="871537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968460" y="5929311"/>
            <a:ext cx="4909691" cy="871537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6427" y="5312566"/>
            <a:ext cx="38100" cy="871537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68460" y="4867273"/>
            <a:ext cx="38100" cy="871537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68460" y="5929311"/>
            <a:ext cx="38100" cy="871537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77" y="5464966"/>
            <a:ext cx="147637" cy="1238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8010" y="5019673"/>
            <a:ext cx="100012" cy="12382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8010" y="6081711"/>
            <a:ext cx="128587" cy="1238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0622" y="116681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0D9488"/>
                </a:solidFill>
                <a:latin typeface="Plus Jakarta Sans"/>
              </a:rPr>
              <a:t>CHƯƠNG 2 — PHÂN TÍCH KHÁM PHÁ DỮ LIỆU (EDA)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4527" y="295275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EDA 01 —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Phân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bố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Biến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Mục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tiêu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(Price)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5977" y="5445916"/>
            <a:ext cx="5157341" cy="152400"/>
          </a:xfrm>
          <a:prstGeom prst="rect">
            <a:avLst/>
          </a:prstGeom>
          <a:noFill/>
        </p:spPr>
        <p:txBody>
          <a:bodyPr wrap="none" lIns="147637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F766E"/>
                </a:solidFill>
                <a:latin typeface="Plus Jakarta Sans"/>
              </a:rPr>
              <a:t>HÌNH CHO THẤY GÌ?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977" y="5636416"/>
            <a:ext cx="4623941" cy="4143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125" b="0" i="0" u="none">
                <a:solidFill>
                  <a:srgbClr val="1E293B"/>
                </a:solidFill>
                <a:latin typeface="Plus Jakarta Sans"/>
              </a:rPr>
              <a:t>Giá xe gốc lệch phải rất mạnh (median ~570 triệu, đuôi kéo dài đến hàng chục tỷ). Sau log1p, phân bố cân bằng dạng chuông.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010" y="5000623"/>
            <a:ext cx="5157341" cy="152400"/>
          </a:xfrm>
          <a:prstGeom prst="rect">
            <a:avLst/>
          </a:prstGeom>
          <a:noFill/>
        </p:spPr>
        <p:txBody>
          <a:bodyPr wrap="none" lIns="100012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369A1"/>
                </a:solidFill>
                <a:latin typeface="Plus Jakarta Sans"/>
              </a:rPr>
              <a:t>Ý NGHĨA VỚI BÀI TOÁN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8010" y="5191123"/>
            <a:ext cx="4623941" cy="4143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125" b="0" i="0" u="none">
                <a:solidFill>
                  <a:srgbClr val="1E293B"/>
                </a:solidFill>
                <a:latin typeface="Plus Jakarta Sans"/>
              </a:rPr>
              <a:t>Huấn luyện trực tiếp trên price gốc khiến mô hình bị ảnh hưởng nặng bởi các siêu xe / outlier giá cao.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8010" y="6062661"/>
            <a:ext cx="5157341" cy="152400"/>
          </a:xfrm>
          <a:prstGeom prst="rect">
            <a:avLst/>
          </a:prstGeom>
          <a:noFill/>
        </p:spPr>
        <p:txBody>
          <a:bodyPr wrap="none" lIns="128587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15803D"/>
                </a:solidFill>
                <a:latin typeface="Plus Jakarta Sans"/>
              </a:rPr>
              <a:t>QUYẾT ĐỊNH XỬ LÝ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8010" y="6253161"/>
            <a:ext cx="4623941" cy="4143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125" b="0" i="0" u="none">
                <a:solidFill>
                  <a:srgbClr val="1E293B"/>
                </a:solidFill>
                <a:latin typeface="Plus Jakarta Sans"/>
              </a:rPr>
              <a:t>Biến đổi target bằng </a:t>
            </a:r>
            <a:r>
              <a:rPr sz="1125" b="1" i="0" u="none">
                <a:solidFill>
                  <a:srgbClr val="1E293B"/>
                </a:solidFill>
                <a:latin typeface="Plus Jakarta Sans"/>
              </a:rPr>
              <a:t>log1p</a:t>
            </a:r>
            <a:r>
              <a:rPr sz="1125" b="0" i="0" u="none">
                <a:solidFill>
                  <a:srgbClr val="1E293B"/>
                </a:solidFill>
                <a:latin typeface="Plus Jakarta Sans"/>
              </a:rPr>
              <a:t> qua TransformedTargetRegressor. Dự đoán dùng </a:t>
            </a:r>
            <a:r>
              <a:rPr sz="1125" b="1" i="0" u="none">
                <a:solidFill>
                  <a:srgbClr val="1E293B"/>
                </a:solidFill>
                <a:latin typeface="Plus Jakarta Sans"/>
              </a:rPr>
              <a:t>expm1</a:t>
            </a:r>
            <a:r>
              <a:rPr sz="1125" b="0" i="0" u="none">
                <a:solidFill>
                  <a:srgbClr val="1E293B"/>
                </a:solidFill>
                <a:latin typeface="Plus Jakarta Sans"/>
              </a:rPr>
              <a:t> đưa về giá gốc. MAE, RMSE tính trên triệu VNĐ.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74C9A3A-3F12-465F-3A82-CF42F0DE36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427" y="620122"/>
            <a:ext cx="10102149" cy="42185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81273" y="5545677"/>
            <a:ext cx="4909691" cy="871537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034658" y="4984909"/>
            <a:ext cx="4909691" cy="871537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034658" y="5894546"/>
            <a:ext cx="4909691" cy="871537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81273" y="5545677"/>
            <a:ext cx="38100" cy="871537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034658" y="4984909"/>
            <a:ext cx="38100" cy="871537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034658" y="5894546"/>
            <a:ext cx="38100" cy="871537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823" y="5698077"/>
            <a:ext cx="147637" cy="1238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4208" y="5137309"/>
            <a:ext cx="100012" cy="12382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4208" y="6046946"/>
            <a:ext cx="128587" cy="1238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2 — PHÂN TÍCH KHÁM PHÁ DỮ LIỆU (EDA)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F172A"/>
                </a:solidFill>
                <a:latin typeface="Plus Jakarta Sans"/>
              </a:rPr>
              <a:t>EDA 02 — Phân bố &amp; Ngoại lai các Biến số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823" y="5679027"/>
            <a:ext cx="5157341" cy="152400"/>
          </a:xfrm>
          <a:prstGeom prst="rect">
            <a:avLst/>
          </a:prstGeom>
          <a:noFill/>
        </p:spPr>
        <p:txBody>
          <a:bodyPr wrap="none" lIns="147637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F766E"/>
                </a:solidFill>
                <a:latin typeface="Plus Jakarta Sans"/>
              </a:rPr>
              <a:t>HÌNH CHO THẤY GÌ?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0823" y="5869527"/>
            <a:ext cx="4623941" cy="4143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125" b="0" i="0" u="none">
                <a:solidFill>
                  <a:srgbClr val="1E293B"/>
                </a:solidFill>
                <a:latin typeface="Plus Jakarta Sans"/>
              </a:rPr>
              <a:t>driven_kms có giá trị đột biến &gt; 1.000.000 km. year tập trung chủ yếu từ 2005–2023. price xuất hiện nhiều điểm ngoại lai cực cao.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94214" y="5137309"/>
            <a:ext cx="5157341" cy="152400"/>
          </a:xfrm>
          <a:prstGeom prst="rect">
            <a:avLst/>
          </a:prstGeom>
          <a:noFill/>
        </p:spPr>
        <p:txBody>
          <a:bodyPr wrap="none" lIns="100012" tIns="0" rIns="0" bIns="0" anchor="t">
            <a:spAutoFit/>
          </a:bodyPr>
          <a:lstStyle/>
          <a:p>
            <a:pPr algn="l"/>
            <a:r>
              <a:rPr sz="975" b="1" i="0" u="none" dirty="0">
                <a:solidFill>
                  <a:srgbClr val="0369A1"/>
                </a:solidFill>
                <a:latin typeface="Plus Jakarta Sans"/>
              </a:rPr>
              <a:t>Ý NGHĨA VỚI BÀI TOÁN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4208" y="5308759"/>
            <a:ext cx="4623941" cy="4143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125" b="0" i="0" u="none">
                <a:solidFill>
                  <a:srgbClr val="1E293B"/>
                </a:solidFill>
                <a:latin typeface="Plus Jakarta Sans"/>
              </a:rPr>
              <a:t>Cần chặn ngưỡng hợp lý để loại bỏ dữ liệu cào lỗi / nhập sai, tránh làm sai lệch đường cong học của mô hình.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44208" y="6027896"/>
            <a:ext cx="5157341" cy="152400"/>
          </a:xfrm>
          <a:prstGeom prst="rect">
            <a:avLst/>
          </a:prstGeom>
          <a:noFill/>
        </p:spPr>
        <p:txBody>
          <a:bodyPr wrap="none" lIns="128587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15803D"/>
                </a:solidFill>
                <a:latin typeface="Plus Jakarta Sans"/>
              </a:rPr>
              <a:t>QUYẾT ĐỊNH XỬ LÝ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4208" y="6218396"/>
            <a:ext cx="4623941" cy="4143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125" b="0" i="0" u="none">
                <a:solidFill>
                  <a:srgbClr val="1E293B"/>
                </a:solidFill>
                <a:latin typeface="Plus Jakarta Sans"/>
              </a:rPr>
              <a:t>Lọc giữ bản ghi: driven_kms ≤ 1.000.000 km, price ∈ [30 triệu, 60 tỷ VNĐ], num_of_door ∈ [2, 6], num_of_seat ∈ [2, 16].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ED9F93D-854F-9C2E-02EB-E22369D68A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13490"/>
            <a:ext cx="11114286" cy="40476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5726349"/>
            <a:ext cx="4909691" cy="871537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367911" y="4854812"/>
            <a:ext cx="4909691" cy="871537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367911" y="5916850"/>
            <a:ext cx="4909691" cy="871537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5726349"/>
            <a:ext cx="38100" cy="871537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367911" y="4854812"/>
            <a:ext cx="38100" cy="871537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367911" y="5916850"/>
            <a:ext cx="38100" cy="871537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5878749"/>
            <a:ext cx="147637" cy="1238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461" y="5007212"/>
            <a:ext cx="100012" cy="12382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7461" y="6069250"/>
            <a:ext cx="128587" cy="1238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2 — PHÂN TÍCH KHÁM PHÁ DỮ LIỆU (EDA)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F172A"/>
                </a:solidFill>
                <a:latin typeface="Plus Jakarta Sans"/>
              </a:rPr>
              <a:t>EDA 03 — Ma trận Tương quan &amp; Dữ liệu Khuyết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5859699"/>
            <a:ext cx="5157341" cy="152400"/>
          </a:xfrm>
          <a:prstGeom prst="rect">
            <a:avLst/>
          </a:prstGeom>
          <a:noFill/>
        </p:spPr>
        <p:txBody>
          <a:bodyPr wrap="none" lIns="147637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F766E"/>
                </a:solidFill>
                <a:latin typeface="Plus Jakarta Sans"/>
              </a:rPr>
              <a:t>HÌNH CHO THẤY GÌ?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" y="6050199"/>
            <a:ext cx="4623941" cy="4143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125" b="0" i="0" u="none">
                <a:solidFill>
                  <a:srgbClr val="1E293B"/>
                </a:solidFill>
                <a:latin typeface="Plus Jakarta Sans"/>
              </a:rPr>
              <a:t>Tỷ lệ khuyết thiếu thấp (&lt; vài %). Heatmap: year tương quan dương (0.21), driven_kms tương quan âm (−0.17) với price.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7461" y="4988162"/>
            <a:ext cx="5157341" cy="152400"/>
          </a:xfrm>
          <a:prstGeom prst="rect">
            <a:avLst/>
          </a:prstGeom>
          <a:noFill/>
        </p:spPr>
        <p:txBody>
          <a:bodyPr wrap="none" lIns="100012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369A1"/>
                </a:solidFill>
                <a:latin typeface="Plus Jakarta Sans"/>
              </a:rPr>
              <a:t>Ý NGHĨA VỚI BÀI TOÁN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7461" y="5178662"/>
            <a:ext cx="4623941" cy="4143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125" b="0" i="0" u="none">
                <a:solidFill>
                  <a:srgbClr val="1E293B"/>
                </a:solidFill>
                <a:latin typeface="Plus Jakarta Sans"/>
              </a:rPr>
              <a:t>Dữ liệu chất lượng tốt. Các biến số có liên hệ tuyến tính hợp lý với giá xe và không bị đa cộng tuyến nghiêm trọng.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7461" y="6050200"/>
            <a:ext cx="5157341" cy="152400"/>
          </a:xfrm>
          <a:prstGeom prst="rect">
            <a:avLst/>
          </a:prstGeom>
          <a:noFill/>
        </p:spPr>
        <p:txBody>
          <a:bodyPr wrap="none" lIns="128587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15803D"/>
                </a:solidFill>
                <a:latin typeface="Plus Jakarta Sans"/>
              </a:rPr>
              <a:t>QUYẾT ĐỊNH XỬ LÝ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7461" y="6240700"/>
            <a:ext cx="4623941" cy="4143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125" b="0" i="0" u="none">
                <a:solidFill>
                  <a:srgbClr val="1E293B"/>
                </a:solidFill>
                <a:latin typeface="Plus Jakarta Sans"/>
              </a:rPr>
              <a:t>Loại bỏ dòng chứa missing values ở trường quan trọng. Giữ 4 biến số và chuẩn hóa qua </a:t>
            </a:r>
            <a:r>
              <a:rPr sz="1125" b="1" i="0" u="none">
                <a:solidFill>
                  <a:srgbClr val="1E293B"/>
                </a:solidFill>
                <a:latin typeface="Plus Jakarta Sans"/>
              </a:rPr>
              <a:t>StandardScaler</a:t>
            </a:r>
            <a:r>
              <a:rPr sz="1125" b="0" i="0" u="none">
                <a:solidFill>
                  <a:srgbClr val="1E293B"/>
                </a:solidFill>
                <a:latin typeface="Plus Jakarta Sans"/>
              </a:rPr>
              <a:t>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20BD263-E3AA-D649-B283-CECA180FCC0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568"/>
          <a:stretch>
            <a:fillRect/>
          </a:stretch>
        </p:blipFill>
        <p:spPr>
          <a:xfrm>
            <a:off x="1933475" y="998735"/>
            <a:ext cx="8176525" cy="38422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882508" y="1000125"/>
            <a:ext cx="2985643" cy="1343309"/>
          </a:xfrm>
          <a:prstGeom prst="roundRect">
            <a:avLst>
              <a:gd name="adj" fmla="val 706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82507" y="2921983"/>
            <a:ext cx="2947651" cy="871537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882509" y="4322442"/>
            <a:ext cx="2947650" cy="1310153"/>
          </a:xfrm>
          <a:prstGeom prst="roundRect">
            <a:avLst>
              <a:gd name="adj" fmla="val 706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82508" y="1173956"/>
            <a:ext cx="38100" cy="107870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882506" y="2921983"/>
            <a:ext cx="45719" cy="871537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882507" y="4322442"/>
            <a:ext cx="45719" cy="1310153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2058" y="1326356"/>
            <a:ext cx="147637" cy="1238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2057" y="3074383"/>
            <a:ext cx="60045" cy="12382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2058" y="4474843"/>
            <a:ext cx="156177" cy="15039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295275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2 — PHÂN TÍCH KHÁM PHÁ DỮ LIỆU (EDA)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47" y="571358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F172A"/>
                </a:solidFill>
                <a:latin typeface="Plus Jakarta Sans"/>
              </a:rPr>
              <a:t>EDA 04 — Phân bố Giá theo Hãng xe (Brand)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2058" y="1307306"/>
            <a:ext cx="5157341" cy="152400"/>
          </a:xfrm>
          <a:prstGeom prst="rect">
            <a:avLst/>
          </a:prstGeom>
          <a:noFill/>
        </p:spPr>
        <p:txBody>
          <a:bodyPr wrap="none" lIns="147637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0F766E"/>
                </a:solidFill>
                <a:latin typeface="Plus Jakarta Sans"/>
              </a:rPr>
              <a:t>HÌNH CHO THẤY GÌ?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2058" y="1497806"/>
            <a:ext cx="2566543" cy="8075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12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hãng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xe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phổ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biến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thể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hiện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phân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khúc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giá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rõ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rệt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. Lexus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và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Mercedes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nằm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ở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phân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khúc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hạng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sang; Hyundai, Chevrolet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thuộc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phân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khúc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phổ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1E293B"/>
                </a:solidFill>
                <a:latin typeface="Plus Jakarta Sans"/>
              </a:rPr>
              <a:t>thông</a:t>
            </a:r>
            <a:r>
              <a:rPr sz="1125" b="0" i="0" u="none" dirty="0">
                <a:solidFill>
                  <a:srgbClr val="1E293B"/>
                </a:solidFill>
                <a:latin typeface="Plus Jakarta Sans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2079" y="3102958"/>
            <a:ext cx="5157341" cy="152400"/>
          </a:xfrm>
          <a:prstGeom prst="rect">
            <a:avLst/>
          </a:prstGeom>
          <a:noFill/>
        </p:spPr>
        <p:txBody>
          <a:bodyPr wrap="none" lIns="100012" tIns="0" rIns="0" bIns="0" anchor="t">
            <a:spAutoFit/>
          </a:bodyPr>
          <a:lstStyle/>
          <a:p>
            <a:pPr algn="l"/>
            <a:r>
              <a:rPr sz="975" b="1" i="0" u="none" dirty="0">
                <a:solidFill>
                  <a:srgbClr val="0369A1"/>
                </a:solidFill>
                <a:latin typeface="Plus Jakarta Sans"/>
              </a:rPr>
              <a:t>Ý NGHĨA VỚI BÀI TOÁN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2058" y="3245833"/>
            <a:ext cx="2776094" cy="39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125" b="0" i="0" u="none">
                <a:solidFill>
                  <a:srgbClr val="1E293B"/>
                </a:solidFill>
                <a:latin typeface="Plus Jakarta Sans"/>
              </a:rPr>
              <a:t>Thương hiệu (brand) là đặc trưng phân loại mang giá trị thông tin rất cao để định giá xe.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5111" y="4455792"/>
            <a:ext cx="3096332" cy="150041"/>
          </a:xfrm>
          <a:prstGeom prst="rect">
            <a:avLst/>
          </a:prstGeom>
          <a:noFill/>
        </p:spPr>
        <p:txBody>
          <a:bodyPr wrap="square" lIns="128587" tIns="0" rIns="0" bIns="0" anchor="t">
            <a:spAutoFit/>
          </a:bodyPr>
          <a:lstStyle/>
          <a:p>
            <a:pPr algn="l"/>
            <a:r>
              <a:rPr sz="975" b="1" i="0" u="none" dirty="0">
                <a:solidFill>
                  <a:srgbClr val="15803D"/>
                </a:solidFill>
                <a:latin typeface="Plus Jakarta Sans"/>
              </a:rPr>
              <a:t>QUYẾT ĐỊNH XỬ LÝ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2058" y="4646293"/>
            <a:ext cx="2776093" cy="602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125" b="0" i="0" u="none">
                <a:solidFill>
                  <a:srgbClr val="1E293B"/>
                </a:solidFill>
                <a:latin typeface="Plus Jakarta Sans"/>
              </a:rPr>
              <a:t>Mã hóa biến brand bằng </a:t>
            </a:r>
            <a:r>
              <a:rPr sz="1125" b="1" i="0" u="none">
                <a:solidFill>
                  <a:srgbClr val="1E293B"/>
                </a:solidFill>
                <a:latin typeface="Plus Jakarta Sans"/>
              </a:rPr>
              <a:t>OneHotEncoder(handle_unknown='ignore')</a:t>
            </a:r>
            <a:r>
              <a:rPr sz="1125" b="0" i="0" u="none">
                <a:solidFill>
                  <a:srgbClr val="1E293B"/>
                </a:solidFill>
                <a:latin typeface="Plus Jakarta Sans"/>
              </a:rPr>
              <a:t> trong pipeline categorical.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3C810F6-85B9-3D6F-C9C9-4D5ADF6734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849" y="1545431"/>
            <a:ext cx="8271773" cy="40252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961915" y="1380717"/>
            <a:ext cx="2963384" cy="1350017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980966" y="3028949"/>
            <a:ext cx="2963385" cy="1133474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8961916" y="4652960"/>
            <a:ext cx="2963385" cy="1276350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80966" y="1708620"/>
            <a:ext cx="38100" cy="871537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970332" y="3148011"/>
            <a:ext cx="45719" cy="871537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961915" y="4720826"/>
            <a:ext cx="45719" cy="871537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4797" y="1672106"/>
            <a:ext cx="147637" cy="1238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66" y="3086099"/>
            <a:ext cx="60365" cy="12382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1467" y="4805360"/>
            <a:ext cx="77612" cy="1238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2 — PHÂN TÍCH KHÁM PHÁ DỮ LIỆU (EDA)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F172A"/>
                </a:solidFill>
                <a:latin typeface="Plus Jakarta Sans"/>
              </a:rPr>
              <a:t>EDA 05 — Ảnh hưởng của Hộp số &amp; Nơi lắp ráp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71467" y="1558750"/>
            <a:ext cx="1734769" cy="230832"/>
          </a:xfrm>
          <a:prstGeom prst="rect">
            <a:avLst/>
          </a:prstGeom>
          <a:noFill/>
        </p:spPr>
        <p:txBody>
          <a:bodyPr wrap="none" lIns="147637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0F766E"/>
                </a:solidFill>
                <a:latin typeface="Plus Jakarta Sans"/>
              </a:rPr>
              <a:t>HÌNH CHO THẤY GÌ?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4797" y="1813394"/>
            <a:ext cx="2649059" cy="8207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Xe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số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tự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động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có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trung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vị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giá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cao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hơn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xe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số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tay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. Xe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nhập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khẩu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nguyên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chiếc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có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trung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vị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giá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cao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hơn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xe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lắp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ráp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trong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nước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71466" y="3067049"/>
            <a:ext cx="3112861" cy="230832"/>
          </a:xfrm>
          <a:prstGeom prst="rect">
            <a:avLst/>
          </a:prstGeom>
          <a:noFill/>
        </p:spPr>
        <p:txBody>
          <a:bodyPr wrap="square" lIns="100012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369A1"/>
                </a:solidFill>
                <a:latin typeface="Plus Jakarta Sans"/>
              </a:rPr>
              <a:t>Ý NGHĨA VỚI BÀI TOÁN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71467" y="3400424"/>
            <a:ext cx="2790912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Các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yếu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tố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kỹ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thuật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(transmission,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assemble_place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,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engine_type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)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có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tác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động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phân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loại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giá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rõ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rệt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1466" y="4786310"/>
            <a:ext cx="3112861" cy="230832"/>
          </a:xfrm>
          <a:prstGeom prst="rect">
            <a:avLst/>
          </a:prstGeom>
          <a:noFill/>
        </p:spPr>
        <p:txBody>
          <a:bodyPr wrap="square" lIns="128587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5803D"/>
                </a:solidFill>
                <a:latin typeface="Plus Jakarta Sans"/>
              </a:rPr>
              <a:t>QUYẾT ĐỊNH XỬ LÝ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1467" y="4976810"/>
            <a:ext cx="2790912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Đưa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toàn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bộ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biến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phân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loại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này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vào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nhánh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biến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đổi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Categorical Pipeline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xử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lý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đồng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Plus Jakarta Sans"/>
              </a:rPr>
              <a:t>bộ</a:t>
            </a:r>
            <a:r>
              <a:rPr sz="1500" b="0" i="0" u="none" dirty="0">
                <a:solidFill>
                  <a:srgbClr val="1E293B"/>
                </a:solidFill>
                <a:latin typeface="Plus Jakarta Sans"/>
              </a:rPr>
              <a:t>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9D86D2D-B86E-4B8B-C5BA-4804BC725A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259" y="1668778"/>
            <a:ext cx="8723259" cy="398073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2E5925-8E56-1102-A2A0-64DD4FAA7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BEF5B60-B170-3292-C473-01EDAB643F41}"/>
              </a:ext>
            </a:extLst>
          </p:cNvPr>
          <p:cNvSpPr/>
          <p:nvPr/>
        </p:nvSpPr>
        <p:spPr>
          <a:xfrm>
            <a:off x="9000016" y="1107281"/>
            <a:ext cx="2963384" cy="1733549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CE2E3C4-6A71-0780-61B6-073A81C69361}"/>
              </a:ext>
            </a:extLst>
          </p:cNvPr>
          <p:cNvSpPr/>
          <p:nvPr/>
        </p:nvSpPr>
        <p:spPr>
          <a:xfrm>
            <a:off x="8980966" y="2900333"/>
            <a:ext cx="2963385" cy="1605170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4D09A17-185B-81A7-B42D-3377E64922CE}"/>
              </a:ext>
            </a:extLst>
          </p:cNvPr>
          <p:cNvSpPr/>
          <p:nvPr/>
        </p:nvSpPr>
        <p:spPr>
          <a:xfrm>
            <a:off x="8961916" y="4652960"/>
            <a:ext cx="2963385" cy="2014540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F2F0DD-6E45-E697-0878-6628348AE2D9}"/>
              </a:ext>
            </a:extLst>
          </p:cNvPr>
          <p:cNvSpPr/>
          <p:nvPr/>
        </p:nvSpPr>
        <p:spPr>
          <a:xfrm>
            <a:off x="8961916" y="1181072"/>
            <a:ext cx="38100" cy="871537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A85E53-BE17-135F-F6FF-CFCF64889647}"/>
              </a:ext>
            </a:extLst>
          </p:cNvPr>
          <p:cNvSpPr/>
          <p:nvPr/>
        </p:nvSpPr>
        <p:spPr>
          <a:xfrm>
            <a:off x="8961915" y="2933699"/>
            <a:ext cx="45719" cy="871537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FAB90E0-12BD-669C-8E6D-C9A9CBE73C35}"/>
              </a:ext>
            </a:extLst>
          </p:cNvPr>
          <p:cNvSpPr/>
          <p:nvPr/>
        </p:nvSpPr>
        <p:spPr>
          <a:xfrm>
            <a:off x="8961915" y="4652960"/>
            <a:ext cx="45719" cy="871537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pic>
        <p:nvPicPr>
          <p:cNvPr id="10" name="Picture 9" descr="image.png">
            <a:extLst>
              <a:ext uri="{FF2B5EF4-FFF2-40B4-BE49-F238E27FC236}">
                <a16:creationId xmlns:a16="http://schemas.microsoft.com/office/drawing/2014/main" id="{8813742F-5728-9352-617B-8FA57292F9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7634" y="1352552"/>
            <a:ext cx="147637" cy="123825"/>
          </a:xfrm>
          <a:prstGeom prst="rect">
            <a:avLst/>
          </a:prstGeom>
        </p:spPr>
      </p:pic>
      <p:pic>
        <p:nvPicPr>
          <p:cNvPr id="11" name="Picture 10" descr="image.png">
            <a:extLst>
              <a:ext uri="{FF2B5EF4-FFF2-40B4-BE49-F238E27FC236}">
                <a16:creationId xmlns:a16="http://schemas.microsoft.com/office/drawing/2014/main" id="{C626BB90-8144-54CD-5BF4-622BEB030D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66" y="3086099"/>
            <a:ext cx="60365" cy="123825"/>
          </a:xfrm>
          <a:prstGeom prst="rect">
            <a:avLst/>
          </a:prstGeom>
        </p:spPr>
      </p:pic>
      <p:pic>
        <p:nvPicPr>
          <p:cNvPr id="12" name="Picture 11" descr="image.png">
            <a:extLst>
              <a:ext uri="{FF2B5EF4-FFF2-40B4-BE49-F238E27FC236}">
                <a16:creationId xmlns:a16="http://schemas.microsoft.com/office/drawing/2014/main" id="{94A637EB-8DAB-3BDE-1781-DA28E1402B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1467" y="4805360"/>
            <a:ext cx="77612" cy="12382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3C39BFF-4963-BC5A-4727-C7B223974489}"/>
              </a:ext>
            </a:extLst>
          </p:cNvPr>
          <p:cNvSpPr txBox="1"/>
          <p:nvPr/>
        </p:nvSpPr>
        <p:spPr>
          <a:xfrm>
            <a:off x="457200" y="381000"/>
            <a:ext cx="42672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2 — PHÂN TÍCH KHÁM PHÁ DỮ LIỆU (EDA)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833B6E-BE29-D45D-B3D4-84911125C952}"/>
              </a:ext>
            </a:extLst>
          </p:cNvPr>
          <p:cNvSpPr txBox="1"/>
          <p:nvPr/>
        </p:nvSpPr>
        <p:spPr>
          <a:xfrm>
            <a:off x="457200" y="609600"/>
            <a:ext cx="6354432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EDA 0</a:t>
            </a:r>
            <a:r>
              <a:rPr lang="en-US" sz="2100" b="1" i="0" u="none" dirty="0">
                <a:solidFill>
                  <a:srgbClr val="0F172A"/>
                </a:solidFill>
                <a:latin typeface="Plus Jakarta Sans"/>
              </a:rPr>
              <a:t>6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— </a:t>
            </a:r>
            <a:r>
              <a:rPr lang="vi-VN" sz="2400" dirty="0"/>
              <a:t>Quan hệ số </a:t>
            </a:r>
            <a:r>
              <a:rPr lang="vi-VN" sz="2400" dirty="0" err="1"/>
              <a:t>km</a:t>
            </a:r>
            <a:r>
              <a:rPr lang="vi-VN" sz="2400" dirty="0"/>
              <a:t> / năm sản xuất với giá</a:t>
            </a:r>
            <a:endParaRPr sz="21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47267E-5980-B65F-B3BA-6CD3A3B855D5}"/>
              </a:ext>
            </a:extLst>
          </p:cNvPr>
          <p:cNvSpPr txBox="1"/>
          <p:nvPr/>
        </p:nvSpPr>
        <p:spPr>
          <a:xfrm>
            <a:off x="9007634" y="1309688"/>
            <a:ext cx="5157341" cy="152400"/>
          </a:xfrm>
          <a:prstGeom prst="rect">
            <a:avLst/>
          </a:prstGeom>
          <a:noFill/>
        </p:spPr>
        <p:txBody>
          <a:bodyPr wrap="none" lIns="147637" tIns="0" rIns="0" bIns="0" anchor="t">
            <a:spAutoFit/>
          </a:bodyPr>
          <a:lstStyle/>
          <a:p>
            <a:pPr algn="l"/>
            <a:r>
              <a:rPr sz="975" b="1" i="0" u="none" dirty="0">
                <a:solidFill>
                  <a:srgbClr val="0F766E"/>
                </a:solidFill>
                <a:latin typeface="Plus Jakarta Sans"/>
              </a:rPr>
              <a:t>HÌNH CHO THẤY GÌ?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D29D43-CBBF-C054-514A-FA68A86223FA}"/>
              </a:ext>
            </a:extLst>
          </p:cNvPr>
          <p:cNvSpPr txBox="1"/>
          <p:nvPr/>
        </p:nvSpPr>
        <p:spPr>
          <a:xfrm>
            <a:off x="9090599" y="1571627"/>
            <a:ext cx="2649059" cy="1000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/>
            <a:r>
              <a:rPr lang="vi-VN" sz="1300" dirty="0"/>
              <a:t>Giá xe có xu hướng </a:t>
            </a:r>
            <a:r>
              <a:rPr lang="vi-VN" sz="1300" b="1" dirty="0"/>
              <a:t>giảm khi số </a:t>
            </a:r>
            <a:r>
              <a:rPr lang="vi-VN" sz="1300" b="1" dirty="0" err="1"/>
              <a:t>km</a:t>
            </a:r>
            <a:r>
              <a:rPr lang="vi-VN" sz="1300" b="1" dirty="0"/>
              <a:t> đã đi tăng</a:t>
            </a:r>
            <a:r>
              <a:rPr lang="vi-VN" sz="1300" dirty="0"/>
              <a:t>, với mối quan hệ phi tuyến.</a:t>
            </a:r>
          </a:p>
          <a:p>
            <a:pPr lvl="0"/>
            <a:r>
              <a:rPr lang="vi-VN" sz="1300" dirty="0"/>
              <a:t>Xe có </a:t>
            </a:r>
            <a:r>
              <a:rPr lang="vi-VN" sz="1300" b="1" dirty="0"/>
              <a:t>năm sản xuất càng mới</a:t>
            </a:r>
            <a:r>
              <a:rPr lang="vi-VN" sz="1300" dirty="0"/>
              <a:t> thường có mức giá cao hơn rõ rệt.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004D41-69FF-14E6-D505-998FE3367E44}"/>
              </a:ext>
            </a:extLst>
          </p:cNvPr>
          <p:cNvSpPr txBox="1"/>
          <p:nvPr/>
        </p:nvSpPr>
        <p:spPr>
          <a:xfrm>
            <a:off x="9171466" y="3067049"/>
            <a:ext cx="3112861" cy="200055"/>
          </a:xfrm>
          <a:prstGeom prst="rect">
            <a:avLst/>
          </a:prstGeom>
          <a:noFill/>
        </p:spPr>
        <p:txBody>
          <a:bodyPr wrap="square" lIns="100012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369A1"/>
                </a:solidFill>
                <a:latin typeface="Plus Jakarta Sans"/>
              </a:rPr>
              <a:t>Ý NGHĨA VỚI BÀI TOÁN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33257E-D015-0C36-7647-8412692B2F01}"/>
              </a:ext>
            </a:extLst>
          </p:cNvPr>
          <p:cNvSpPr txBox="1"/>
          <p:nvPr/>
        </p:nvSpPr>
        <p:spPr>
          <a:xfrm>
            <a:off x="9171467" y="3257549"/>
            <a:ext cx="2790912" cy="12003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vi-VN" sz="1300" dirty="0"/>
              <a:t>Mối quan hệ phi tuyến cho thấy các mô hình như </a:t>
            </a:r>
            <a:r>
              <a:rPr lang="vi-VN" sz="1300" dirty="0" err="1"/>
              <a:t>Decision</a:t>
            </a:r>
            <a:r>
              <a:rPr lang="vi-VN" sz="1300" dirty="0"/>
              <a:t> </a:t>
            </a:r>
            <a:r>
              <a:rPr lang="vi-VN" sz="1300" dirty="0" err="1"/>
              <a:t>Tree</a:t>
            </a:r>
            <a:r>
              <a:rPr lang="vi-VN" sz="1300" dirty="0"/>
              <a:t>, </a:t>
            </a:r>
            <a:r>
              <a:rPr lang="vi-VN" sz="1300" dirty="0" err="1"/>
              <a:t>Random</a:t>
            </a:r>
            <a:r>
              <a:rPr lang="vi-VN" sz="1300" dirty="0"/>
              <a:t> </a:t>
            </a:r>
            <a:r>
              <a:rPr lang="vi-VN" sz="1300" dirty="0" err="1"/>
              <a:t>Forest</a:t>
            </a:r>
            <a:r>
              <a:rPr lang="vi-VN" sz="1300" dirty="0"/>
              <a:t> và SVR với </a:t>
            </a:r>
            <a:r>
              <a:rPr lang="vi-VN" sz="1300" dirty="0" err="1"/>
              <a:t>kernel</a:t>
            </a:r>
            <a:r>
              <a:rPr lang="vi-VN" sz="1300" dirty="0"/>
              <a:t> RBF có khả năng mô hình hóa quan hệ giữa đặc trưng và giá xe tốt hơn mô hình tuyến tính trong một số trường hợp.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BF38F1-CF93-9D78-97D6-45968C2A5F50}"/>
              </a:ext>
            </a:extLst>
          </p:cNvPr>
          <p:cNvSpPr txBox="1"/>
          <p:nvPr/>
        </p:nvSpPr>
        <p:spPr>
          <a:xfrm>
            <a:off x="9171466" y="4786310"/>
            <a:ext cx="3112861" cy="200055"/>
          </a:xfrm>
          <a:prstGeom prst="rect">
            <a:avLst/>
          </a:prstGeom>
          <a:noFill/>
        </p:spPr>
        <p:txBody>
          <a:bodyPr wrap="square" lIns="128587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15803D"/>
                </a:solidFill>
                <a:latin typeface="Plus Jakarta Sans"/>
              </a:rPr>
              <a:t>QUYẾT ĐỊNH XỬ LÝ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84CB82-203B-88D0-E306-552A67810BEC}"/>
              </a:ext>
            </a:extLst>
          </p:cNvPr>
          <p:cNvSpPr txBox="1"/>
          <p:nvPr/>
        </p:nvSpPr>
        <p:spPr>
          <a:xfrm>
            <a:off x="9171467" y="4976810"/>
            <a:ext cx="2790912" cy="16004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/>
            <a:r>
              <a:rPr lang="vi-VN" sz="1300" dirty="0"/>
              <a:t>Huấn luyện cả </a:t>
            </a:r>
            <a:r>
              <a:rPr lang="vi-VN" sz="1300" b="1" dirty="0" err="1"/>
              <a:t>Linear</a:t>
            </a:r>
            <a:r>
              <a:rPr lang="vi-VN" sz="1300" b="1" dirty="0"/>
              <a:t> </a:t>
            </a:r>
            <a:r>
              <a:rPr lang="vi-VN" sz="1300" b="1" dirty="0" err="1"/>
              <a:t>Regression</a:t>
            </a:r>
            <a:r>
              <a:rPr lang="vi-VN" sz="1300" b="1" dirty="0"/>
              <a:t> (</a:t>
            </a:r>
            <a:r>
              <a:rPr lang="vi-VN" sz="1300" b="1" dirty="0" err="1"/>
              <a:t>baseline</a:t>
            </a:r>
            <a:r>
              <a:rPr lang="vi-VN" sz="1300" b="1" dirty="0"/>
              <a:t>)</a:t>
            </a:r>
            <a:r>
              <a:rPr lang="vi-VN" sz="1300" dirty="0"/>
              <a:t> và các mô hình </a:t>
            </a:r>
            <a:r>
              <a:rPr lang="vi-VN" sz="1300" b="1" dirty="0"/>
              <a:t>phi tuyến</a:t>
            </a:r>
            <a:r>
              <a:rPr lang="vi-VN" sz="1300" dirty="0"/>
              <a:t> để thực nghiệm và so sánh trên cùng tập </a:t>
            </a:r>
            <a:r>
              <a:rPr lang="vi-VN" sz="1300" dirty="0" err="1"/>
              <a:t>Test</a:t>
            </a:r>
            <a:r>
              <a:rPr lang="vi-VN" sz="1300" dirty="0"/>
              <a:t>.</a:t>
            </a:r>
          </a:p>
          <a:p>
            <a:pPr lvl="0"/>
            <a:r>
              <a:rPr lang="vi-VN" sz="1300" dirty="0"/>
              <a:t>Áp dụng </a:t>
            </a:r>
            <a:r>
              <a:rPr lang="vi-VN" sz="1300" b="1" dirty="0"/>
              <a:t>log1p(</a:t>
            </a:r>
            <a:r>
              <a:rPr lang="vi-VN" sz="1300" b="1" dirty="0" err="1"/>
              <a:t>price</a:t>
            </a:r>
            <a:r>
              <a:rPr lang="vi-VN" sz="1300" b="1" dirty="0"/>
              <a:t>)</a:t>
            </a:r>
            <a:r>
              <a:rPr lang="vi-VN" sz="1300" dirty="0"/>
              <a:t> để giảm độ lệch của biến mục tiêu và hạn chế ảnh hưởng của các giá trị giá xe rất lớn.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267F878-809D-4947-9344-DE51A025BA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32" y="1681519"/>
            <a:ext cx="8723259" cy="3980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9881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552825"/>
            <a:ext cx="11277600" cy="1114425"/>
          </a:xfrm>
          <a:prstGeom prst="roundRect">
            <a:avLst>
              <a:gd name="adj" fmla="val 10256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943225"/>
            <a:ext cx="1609725" cy="419100"/>
          </a:xfrm>
          <a:prstGeom prst="roundRect">
            <a:avLst>
              <a:gd name="adj" fmla="val 18181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2390775" y="2943225"/>
            <a:ext cx="1609725" cy="419100"/>
          </a:xfrm>
          <a:prstGeom prst="roundRect">
            <a:avLst>
              <a:gd name="adj" fmla="val 18181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324350" y="2943225"/>
            <a:ext cx="1609725" cy="419100"/>
          </a:xfrm>
          <a:prstGeom prst="roundRect">
            <a:avLst>
              <a:gd name="adj" fmla="val 18181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57925" y="2943225"/>
            <a:ext cx="1609725" cy="419100"/>
          </a:xfrm>
          <a:prstGeom prst="roundRect">
            <a:avLst>
              <a:gd name="adj" fmla="val 18181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191500" y="2943225"/>
            <a:ext cx="1609725" cy="419100"/>
          </a:xfrm>
          <a:prstGeom prst="roundRect">
            <a:avLst>
              <a:gd name="adj" fmla="val 18181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125075" y="2943225"/>
            <a:ext cx="1609725" cy="419100"/>
          </a:xfrm>
          <a:prstGeom prst="roundRect">
            <a:avLst>
              <a:gd name="adj" fmla="val 18181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144000" y="3943350"/>
            <a:ext cx="2238375" cy="333375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175" y="3076575"/>
            <a:ext cx="133350" cy="1524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3076575"/>
            <a:ext cx="133350" cy="1524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325" y="3076575"/>
            <a:ext cx="133350" cy="1524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2900" y="3076575"/>
            <a:ext cx="133350" cy="1524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6475" y="3076575"/>
            <a:ext cx="133350" cy="1524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1850" y="4171950"/>
            <a:ext cx="171450" cy="190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2 — TIỀN XỬ LÝ DỮ LIỆU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F172A"/>
                </a:solidFill>
                <a:latin typeface="Plus Jakarta Sans"/>
              </a:rPr>
              <a:t>Tổng quan Quy trình Tiền xử lý Dữ liệu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8384" y="3076575"/>
            <a:ext cx="170735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FFFFFF"/>
                </a:solidFill>
                <a:latin typeface="Plus Jakarta Sans"/>
              </a:rPr>
              <a:t>CSV Thô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41959" y="3076575"/>
            <a:ext cx="170735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0F172A"/>
                </a:solidFill>
                <a:latin typeface="Plus Jakarta Sans"/>
              </a:rPr>
              <a:t>Khám phá EDA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5534" y="3076575"/>
            <a:ext cx="170735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0F172A"/>
                </a:solidFill>
                <a:latin typeface="Plus Jakarta Sans"/>
              </a:rPr>
              <a:t>Lọc Outliers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9109" y="3076575"/>
            <a:ext cx="170735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0F172A"/>
                </a:solidFill>
                <a:latin typeface="Plus Jakarta Sans"/>
              </a:rPr>
              <a:t>Encoding + Scaling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2684" y="3076575"/>
            <a:ext cx="170735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0F172A"/>
                </a:solidFill>
                <a:latin typeface="Plus Jakarta Sans"/>
              </a:rPr>
              <a:t>Target Trans.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76259" y="3076575"/>
            <a:ext cx="170735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FFFFFF"/>
                </a:solidFill>
                <a:latin typeface="Plus Jakarta Sans"/>
              </a:rPr>
              <a:t>Train/Test Split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625" y="3829050"/>
            <a:ext cx="683418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F766E"/>
                </a:solidFill>
                <a:latin typeface="Plus Jakarta Sans"/>
              </a:rPr>
              <a:t>KẾT QUẢ LÀM SẠCH DỮ LIỆU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625" y="4057650"/>
            <a:ext cx="6834187" cy="333375"/>
          </a:xfrm>
          <a:prstGeom prst="rect">
            <a:avLst/>
          </a:prstGeom>
          <a:noFill/>
        </p:spPr>
        <p:txBody>
          <a:bodyPr wrap="none" lIns="40005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Plus Jakarta Sans"/>
              </a:rPr>
              <a:t>27.000+ Dòng thô 24.723 Bản ghi sạch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01150" y="4019550"/>
            <a:ext cx="2028825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25" b="1" i="0" u="none">
                <a:solidFill>
                  <a:srgbClr val="FFFFFF"/>
                </a:solidFill>
                <a:latin typeface="Plus Jakarta Sans"/>
              </a:rPr>
              <a:t>Loại bỏ ~8.4% dữ liệu nhiễu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1133475"/>
            <a:ext cx="5524500" cy="5343525"/>
          </a:xfrm>
          <a:prstGeom prst="roundRect">
            <a:avLst>
              <a:gd name="adj" fmla="val 213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3" name="Rounded Rectangle 2"/>
          <p:cNvSpPr/>
          <p:nvPr/>
        </p:nvSpPr>
        <p:spPr>
          <a:xfrm>
            <a:off x="6210300" y="1133475"/>
            <a:ext cx="5524500" cy="5343525"/>
          </a:xfrm>
          <a:prstGeom prst="roundRect">
            <a:avLst>
              <a:gd name="adj" fmla="val 213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4" name="Rounded Rectangle 3"/>
          <p:cNvSpPr/>
          <p:nvPr/>
        </p:nvSpPr>
        <p:spPr>
          <a:xfrm>
            <a:off x="6410325" y="4106167"/>
            <a:ext cx="5124450" cy="884933"/>
          </a:xfrm>
          <a:prstGeom prst="roundRect">
            <a:avLst>
              <a:gd name="adj" fmla="val 15686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5" name="Rectangle 4"/>
          <p:cNvSpPr/>
          <p:nvPr/>
        </p:nvSpPr>
        <p:spPr>
          <a:xfrm>
            <a:off x="6410325" y="4106167"/>
            <a:ext cx="38100" cy="48577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3005137"/>
            <a:ext cx="228600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0325" y="3051869"/>
            <a:ext cx="257175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2 — TIỀN XỬ LÝ DỮ LIỆU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F172A"/>
                </a:solidFill>
                <a:latin typeface="Plus Jakarta Sans"/>
              </a:rPr>
              <a:t>Bước 1 — Tải &amp; Làm sạch Dữ liệu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0325" y="3466207"/>
            <a:ext cx="5219700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500" b="0" i="0" u="none">
                <a:solidFill>
                  <a:srgbClr val="334155"/>
                </a:solidFill>
                <a:latin typeface="Plus Jakarta Sans"/>
              </a:rPr>
              <a:t>Loại bỏ hoàn toàn các dòng bị khuyết thiếu thông tin ở các trường đặc trưng quan trọng (brand, model, price).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125" y="2971800"/>
            <a:ext cx="2305952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Ngưỡng lọc Outliers &amp; Nhiễu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" y="3419475"/>
            <a:ext cx="3396571" cy="2816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334155"/>
                </a:solidFill>
                <a:latin typeface="Plus Jakarta Sans"/>
              </a:rPr>
              <a:t>driven_kms:</a:t>
            </a:r>
            <a:r>
              <a:rPr sz="1500" b="0" i="0" u="none">
                <a:solidFill>
                  <a:srgbClr val="334155"/>
                </a:solidFill>
                <a:latin typeface="Plus Jakarta Sans"/>
              </a:rPr>
              <a:t> Giữ lại bản ghi ≤ 1.000.000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225" y="3724275"/>
            <a:ext cx="3589252" cy="2816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334155"/>
                </a:solidFill>
                <a:latin typeface="Plus Jakarta Sans"/>
              </a:rPr>
              <a:t>price:</a:t>
            </a:r>
            <a:r>
              <a:rPr sz="1500" b="0" i="0" u="none">
                <a:solidFill>
                  <a:srgbClr val="334155"/>
                </a:solidFill>
                <a:latin typeface="Plus Jakarta Sans"/>
              </a:rPr>
              <a:t> Nằm trong khoảng [30 triệu, 60 tỷ VNĐ]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25" y="4029075"/>
            <a:ext cx="2858155" cy="2816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334155"/>
                </a:solidFill>
                <a:latin typeface="Plus Jakarta Sans"/>
              </a:rPr>
              <a:t>num_of_door:</a:t>
            </a:r>
            <a:r>
              <a:rPr sz="1500" b="0" i="0" u="none">
                <a:solidFill>
                  <a:srgbClr val="334155"/>
                </a:solidFill>
                <a:latin typeface="Plus Jakarta Sans"/>
              </a:rPr>
              <a:t> Giới hạn từ [2, 6] cửa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225" y="4333875"/>
            <a:ext cx="3283015" cy="2816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334155"/>
                </a:solidFill>
                <a:latin typeface="Plus Jakarta Sans"/>
              </a:rPr>
              <a:t>num_of_seat:</a:t>
            </a:r>
            <a:r>
              <a:rPr sz="1500" b="0" i="0" u="none">
                <a:solidFill>
                  <a:srgbClr val="334155"/>
                </a:solidFill>
                <a:latin typeface="Plus Jakarta Sans"/>
              </a:rPr>
              <a:t> Giới hạn từ [2, 16] chỗ ngồi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018532"/>
            <a:ext cx="2735492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Xử lý Giá trị Khuyết (Missing 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0825" y="4258567"/>
            <a:ext cx="2878367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 dirty="0" err="1">
                <a:solidFill>
                  <a:srgbClr val="0369A1"/>
                </a:solidFill>
                <a:latin typeface="Plus Jakarta Sans"/>
              </a:rPr>
              <a:t>Đảm</a:t>
            </a:r>
            <a:r>
              <a:rPr sz="1500" b="1" i="0" u="none" dirty="0">
                <a:solidFill>
                  <a:srgbClr val="0369A1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0369A1"/>
                </a:solidFill>
                <a:latin typeface="Plus Jakarta Sans"/>
              </a:rPr>
              <a:t>bảo</a:t>
            </a:r>
            <a:r>
              <a:rPr sz="1500" b="1" i="0" u="none" dirty="0">
                <a:solidFill>
                  <a:srgbClr val="0369A1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0369A1"/>
                </a:solidFill>
                <a:latin typeface="Plus Jakarta Sans"/>
              </a:rPr>
              <a:t>tính</a:t>
            </a:r>
            <a:r>
              <a:rPr sz="1500" b="1" i="0" u="none" dirty="0">
                <a:solidFill>
                  <a:srgbClr val="0369A1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0369A1"/>
                </a:solidFill>
                <a:latin typeface="Plus Jakarta Sans"/>
              </a:rPr>
              <a:t>toàn</a:t>
            </a:r>
            <a:r>
              <a:rPr sz="1500" b="1" i="0" u="none" dirty="0">
                <a:solidFill>
                  <a:srgbClr val="0369A1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0369A1"/>
                </a:solidFill>
                <a:latin typeface="Plus Jakarta Sans"/>
              </a:rPr>
              <a:t>vẹn</a:t>
            </a:r>
            <a:r>
              <a:rPr sz="1500" b="1" i="0" u="none" dirty="0">
                <a:solidFill>
                  <a:srgbClr val="0369A1"/>
                </a:solidFill>
                <a:latin typeface="Plus Jakarta Sans"/>
              </a:rPr>
              <a:t> 100% </a:t>
            </a:r>
            <a:r>
              <a:rPr sz="1500" b="1" i="0" u="none" dirty="0" err="1">
                <a:solidFill>
                  <a:srgbClr val="0369A1"/>
                </a:solidFill>
                <a:latin typeface="Plus Jakarta Sans"/>
              </a:rPr>
              <a:t>dữ</a:t>
            </a:r>
            <a:r>
              <a:rPr sz="1500" b="1" i="0" u="none" dirty="0">
                <a:solidFill>
                  <a:srgbClr val="0369A1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0369A1"/>
                </a:solidFill>
                <a:latin typeface="Plus Jakarta Sans"/>
              </a:rPr>
              <a:t>liệu</a:t>
            </a:r>
            <a:r>
              <a:rPr sz="1500" b="1" i="0" u="none" dirty="0">
                <a:solidFill>
                  <a:srgbClr val="0369A1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0369A1"/>
                </a:solidFill>
                <a:latin typeface="Plus Jakarta Sans"/>
              </a:rPr>
              <a:t>trước</a:t>
            </a:r>
            <a:r>
              <a:rPr sz="1500" b="1" i="0" u="none" dirty="0">
                <a:solidFill>
                  <a:srgbClr val="0369A1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0369A1"/>
                </a:solidFill>
                <a:latin typeface="Plus Jakarta Sans"/>
              </a:rPr>
              <a:t>khi</a:t>
            </a:r>
            <a:r>
              <a:rPr sz="1500" b="1" i="0" u="none" dirty="0">
                <a:solidFill>
                  <a:srgbClr val="0369A1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0369A1"/>
                </a:solidFill>
                <a:latin typeface="Plus Jakarta Sans"/>
              </a:rPr>
              <a:t>trích</a:t>
            </a:r>
            <a:r>
              <a:rPr sz="1500" b="1" i="0" u="none" dirty="0">
                <a:solidFill>
                  <a:srgbClr val="0369A1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0369A1"/>
                </a:solidFill>
                <a:latin typeface="Plus Jakarta Sans"/>
              </a:rPr>
              <a:t>xuất</a:t>
            </a:r>
            <a:r>
              <a:rPr sz="1500" b="1" i="0" u="none" dirty="0">
                <a:solidFill>
                  <a:srgbClr val="0369A1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0369A1"/>
                </a:solidFill>
                <a:latin typeface="Plus Jakarta Sans"/>
              </a:rPr>
              <a:t>đặc</a:t>
            </a:r>
            <a:r>
              <a:rPr sz="1500" b="1" i="0" u="none" dirty="0">
                <a:solidFill>
                  <a:srgbClr val="0369A1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0369A1"/>
                </a:solidFill>
                <a:latin typeface="Plus Jakarta Sans"/>
              </a:rPr>
              <a:t>trưng</a:t>
            </a:r>
            <a:endParaRPr sz="1500" b="1" i="0" u="none" dirty="0">
              <a:solidFill>
                <a:srgbClr val="0369A1"/>
              </a:solidFill>
              <a:latin typeface="Plus Jakarta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1995487"/>
            <a:ext cx="3632150" cy="3619500"/>
          </a:xfrm>
          <a:prstGeom prst="roundRect">
            <a:avLst>
              <a:gd name="adj" fmla="val 315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" name="Rounded Rectangle 2"/>
          <p:cNvSpPr/>
          <p:nvPr/>
        </p:nvSpPr>
        <p:spPr>
          <a:xfrm>
            <a:off x="4279850" y="1995487"/>
            <a:ext cx="3632150" cy="3619500"/>
          </a:xfrm>
          <a:prstGeom prst="roundRect">
            <a:avLst>
              <a:gd name="adj" fmla="val 315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4" name="Rounded Rectangle 3"/>
          <p:cNvSpPr/>
          <p:nvPr/>
        </p:nvSpPr>
        <p:spPr>
          <a:xfrm>
            <a:off x="8102500" y="1995487"/>
            <a:ext cx="3632150" cy="3619500"/>
          </a:xfrm>
          <a:prstGeom prst="roundRect">
            <a:avLst>
              <a:gd name="adj" fmla="val 3157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5" name="Rounded Rectangle 4"/>
          <p:cNvSpPr/>
          <p:nvPr/>
        </p:nvSpPr>
        <p:spPr>
          <a:xfrm>
            <a:off x="657225" y="4881562"/>
            <a:ext cx="3232100" cy="533400"/>
          </a:xfrm>
          <a:prstGeom prst="roundRect">
            <a:avLst>
              <a:gd name="adj" fmla="val 10714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6" name="Rounded Rectangle 5"/>
          <p:cNvSpPr/>
          <p:nvPr/>
        </p:nvSpPr>
        <p:spPr>
          <a:xfrm>
            <a:off x="4479875" y="4881562"/>
            <a:ext cx="3232100" cy="533400"/>
          </a:xfrm>
          <a:prstGeom prst="roundRect">
            <a:avLst>
              <a:gd name="adj" fmla="val 10714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7" name="Rounded Rectangle 6"/>
          <p:cNvSpPr/>
          <p:nvPr/>
        </p:nvSpPr>
        <p:spPr>
          <a:xfrm>
            <a:off x="8302525" y="5033962"/>
            <a:ext cx="3232100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8" name="Rounded Rectangle 7"/>
          <p:cNvSpPr/>
          <p:nvPr/>
        </p:nvSpPr>
        <p:spPr>
          <a:xfrm>
            <a:off x="657225" y="2205037"/>
            <a:ext cx="1028700" cy="219075"/>
          </a:xfrm>
          <a:prstGeom prst="roundRect">
            <a:avLst>
              <a:gd name="adj" fmla="val 17391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9" name="Rounded Rectangle 8"/>
          <p:cNvSpPr/>
          <p:nvPr/>
        </p:nvSpPr>
        <p:spPr>
          <a:xfrm>
            <a:off x="4479874" y="2205037"/>
            <a:ext cx="1183131" cy="224969"/>
          </a:xfrm>
          <a:prstGeom prst="roundRect">
            <a:avLst>
              <a:gd name="adj" fmla="val 17391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0" name="Rounded Rectangle 9"/>
          <p:cNvSpPr/>
          <p:nvPr/>
        </p:nvSpPr>
        <p:spPr>
          <a:xfrm>
            <a:off x="8302525" y="2205037"/>
            <a:ext cx="638175" cy="219075"/>
          </a:xfrm>
          <a:prstGeom prst="roundRect">
            <a:avLst>
              <a:gd name="adj" fmla="val 17391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1" name="TextBox 10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2 — TIỀN XỬ LÝ DỮ LIỆU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F172A"/>
                </a:solidFill>
                <a:latin typeface="Plus Jakarta Sans"/>
              </a:rPr>
              <a:t>Bước 2 — Biến đổi Đặc trưng &amp;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525" y="4995862"/>
            <a:ext cx="309875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u="none">
                <a:solidFill>
                  <a:srgbClr val="0F172A"/>
                </a:solidFill>
                <a:latin typeface="Plus Jakarta Sans"/>
              </a:rPr>
              <a:t>Chống lỗi out-of-vocabulary khi gặp nhãn mới ở tập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175" y="4995862"/>
            <a:ext cx="309875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u="none">
                <a:solidFill>
                  <a:srgbClr val="0F172A"/>
                </a:solidFill>
                <a:latin typeface="Plus Jakarta Sans"/>
              </a:rPr>
              <a:t>Giúp SVR và Linear Convergence nhanh và chính xác hơn.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525" y="5103583"/>
            <a:ext cx="351785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 dirty="0" err="1">
                <a:solidFill>
                  <a:srgbClr val="15803D"/>
                </a:solidFill>
                <a:latin typeface="Plus Jakarta Sans"/>
              </a:rPr>
              <a:t>Triệt</a:t>
            </a:r>
            <a:r>
              <a:rPr sz="1400" b="1" i="0" u="none" dirty="0">
                <a:solidFill>
                  <a:srgbClr val="15803D"/>
                </a:solidFill>
                <a:latin typeface="Plus Jakarta Sans"/>
              </a:rPr>
              <a:t> </a:t>
            </a:r>
            <a:r>
              <a:rPr sz="1400" b="1" i="0" u="none" dirty="0" err="1">
                <a:solidFill>
                  <a:srgbClr val="15803D"/>
                </a:solidFill>
                <a:latin typeface="Plus Jakarta Sans"/>
              </a:rPr>
              <a:t>tiêu</a:t>
            </a:r>
            <a:r>
              <a:rPr sz="1400" b="1" i="0" u="none" dirty="0">
                <a:solidFill>
                  <a:srgbClr val="15803D"/>
                </a:solidFill>
                <a:latin typeface="Plus Jakarta Sans"/>
              </a:rPr>
              <a:t> </a:t>
            </a:r>
            <a:r>
              <a:rPr sz="1400" b="1" i="0" u="none" dirty="0" err="1">
                <a:solidFill>
                  <a:srgbClr val="15803D"/>
                </a:solidFill>
                <a:latin typeface="Plus Jakarta Sans"/>
              </a:rPr>
              <a:t>độ</a:t>
            </a:r>
            <a:r>
              <a:rPr sz="1400" b="1" i="0" u="none" dirty="0">
                <a:solidFill>
                  <a:srgbClr val="15803D"/>
                </a:solidFill>
                <a:latin typeface="Plus Jakarta Sans"/>
              </a:rPr>
              <a:t> </a:t>
            </a:r>
            <a:r>
              <a:rPr sz="1400" b="1" i="0" u="none" dirty="0" err="1">
                <a:solidFill>
                  <a:srgbClr val="15803D"/>
                </a:solidFill>
                <a:latin typeface="Plus Jakarta Sans"/>
              </a:rPr>
              <a:t>lệch</a:t>
            </a:r>
            <a:r>
              <a:rPr sz="1400" b="1" i="0" u="none" dirty="0">
                <a:solidFill>
                  <a:srgbClr val="15803D"/>
                </a:solidFill>
                <a:latin typeface="Plus Jakarta Sans"/>
              </a:rPr>
              <a:t> </a:t>
            </a:r>
            <a:r>
              <a:rPr sz="1400" b="1" i="0" u="none" dirty="0" err="1">
                <a:solidFill>
                  <a:srgbClr val="15803D"/>
                </a:solidFill>
                <a:latin typeface="Plus Jakarta Sans"/>
              </a:rPr>
              <a:t>phải</a:t>
            </a:r>
            <a:r>
              <a:rPr sz="1400" b="1" i="0" u="none" dirty="0">
                <a:solidFill>
                  <a:srgbClr val="15803D"/>
                </a:solidFill>
                <a:latin typeface="Plus Jakarta Sans"/>
              </a:rPr>
              <a:t> </a:t>
            </a:r>
            <a:r>
              <a:rPr sz="1400" b="1" i="0" u="none" dirty="0" err="1">
                <a:solidFill>
                  <a:srgbClr val="15803D"/>
                </a:solidFill>
                <a:latin typeface="Plus Jakarta Sans"/>
              </a:rPr>
              <a:t>cực</a:t>
            </a:r>
            <a:r>
              <a:rPr sz="1400" b="1" i="0" u="none" dirty="0">
                <a:solidFill>
                  <a:srgbClr val="15803D"/>
                </a:solidFill>
                <a:latin typeface="Plus Jakarta Sans"/>
              </a:rPr>
              <a:t> </a:t>
            </a:r>
            <a:r>
              <a:rPr sz="1400" b="1" i="0" u="none" dirty="0" err="1">
                <a:solidFill>
                  <a:srgbClr val="15803D"/>
                </a:solidFill>
                <a:latin typeface="Plus Jakarta Sans"/>
              </a:rPr>
              <a:t>đại</a:t>
            </a:r>
            <a:r>
              <a:rPr sz="1400" b="1" i="0" u="none" dirty="0">
                <a:solidFill>
                  <a:srgbClr val="15803D"/>
                </a:solidFill>
                <a:latin typeface="Plus Jakarta Sans"/>
              </a:rPr>
              <a:t> </a:t>
            </a:r>
            <a:r>
              <a:rPr sz="1400" b="1" i="0" u="none" dirty="0" err="1">
                <a:solidFill>
                  <a:srgbClr val="15803D"/>
                </a:solidFill>
                <a:latin typeface="Plus Jakarta Sans"/>
              </a:rPr>
              <a:t>của</a:t>
            </a:r>
            <a:r>
              <a:rPr sz="1400" b="1" i="0" u="none" dirty="0">
                <a:solidFill>
                  <a:srgbClr val="15803D"/>
                </a:solidFill>
                <a:latin typeface="Plus Jakarta Sans"/>
              </a:rPr>
              <a:t> </a:t>
            </a:r>
            <a:r>
              <a:rPr sz="1400" b="1" i="0" u="none" dirty="0" err="1">
                <a:solidFill>
                  <a:srgbClr val="15803D"/>
                </a:solidFill>
                <a:latin typeface="Plus Jakarta Sans"/>
              </a:rPr>
              <a:t>biến</a:t>
            </a:r>
            <a:r>
              <a:rPr sz="1400" b="1" i="0" u="none" dirty="0">
                <a:solidFill>
                  <a:srgbClr val="15803D"/>
                </a:solidFill>
                <a:latin typeface="Plus Jakarta Sans"/>
              </a:rPr>
              <a:t> price.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225" y="2237243"/>
            <a:ext cx="124777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 dirty="0">
                <a:solidFill>
                  <a:srgbClr val="3730A3"/>
                </a:solidFill>
                <a:latin typeface="Plus Jakarta Sans"/>
              </a:rPr>
              <a:t>CATEGORICAL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225" y="2509837"/>
            <a:ext cx="1544205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0F172A"/>
                </a:solidFill>
                <a:latin typeface="Plus Jakarta Sans"/>
              </a:rPr>
              <a:t>Categorical Encoding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225" y="2805112"/>
            <a:ext cx="332735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0F172A"/>
                </a:solidFill>
                <a:latin typeface="Plus Jakarta Sans"/>
              </a:rPr>
              <a:t>OneHotEncoder</a:t>
            </a:r>
            <a:r>
              <a:rPr sz="1400" b="0" i="0" u="none">
                <a:solidFill>
                  <a:srgbClr val="0F172A"/>
                </a:solidFill>
                <a:latin typeface="Plus Jakarta Sans"/>
              </a:rPr>
              <a:t> với tùy chọn handle_unknown='ignore'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225" y="3319462"/>
            <a:ext cx="3327350" cy="410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400" b="0" i="0" u="none">
                <a:solidFill>
                  <a:srgbClr val="64748B"/>
                </a:solidFill>
                <a:latin typeface="Plus Jakarta Sans"/>
              </a:rPr>
              <a:t>Áp dụng cho 6 biến: brand, model, series, assemble_place, engine_type, transmission.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4175" y="2243137"/>
            <a:ext cx="10287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 dirty="0">
                <a:solidFill>
                  <a:srgbClr val="075985"/>
                </a:solidFill>
                <a:latin typeface="Plus Jakarta Sans"/>
              </a:rPr>
              <a:t>NUMERICAL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9875" y="2509837"/>
            <a:ext cx="1124410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0F172A"/>
                </a:solidFill>
                <a:latin typeface="Plus Jakarta Sans"/>
              </a:rPr>
              <a:t>Feature Scaling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9875" y="2805112"/>
            <a:ext cx="332735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0F172A"/>
                </a:solidFill>
                <a:latin typeface="Plus Jakarta Sans"/>
              </a:rPr>
              <a:t>StandardScaler</a:t>
            </a:r>
            <a:r>
              <a:rPr sz="1400" b="0" i="0" u="none">
                <a:solidFill>
                  <a:srgbClr val="0F172A"/>
                </a:solidFill>
                <a:latin typeface="Plus Jakarta Sans"/>
              </a:rPr>
              <a:t> chuẩn hóa z-score về phân bố μ=0, σ=1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9875" y="3319462"/>
            <a:ext cx="3327350" cy="410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400" b="0" i="0" u="none">
                <a:solidFill>
                  <a:srgbClr val="64748B"/>
                </a:solidFill>
                <a:latin typeface="Plus Jakarta Sans"/>
              </a:rPr>
              <a:t>Áp dụng cho 4 biến định lượng: year, driven_kms, num_of_door, num_of_seat.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3137" y="2205037"/>
            <a:ext cx="73342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 dirty="0">
                <a:solidFill>
                  <a:srgbClr val="166534"/>
                </a:solidFill>
                <a:latin typeface="Plus Jakarta Sans"/>
              </a:rPr>
              <a:t>TARGET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525" y="2509837"/>
            <a:ext cx="1638847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0F172A"/>
                </a:solidFill>
                <a:latin typeface="Plus Jakarta Sans"/>
              </a:rPr>
              <a:t>Target Transformation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525" y="2805112"/>
            <a:ext cx="2128018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0F172A"/>
                </a:solidFill>
                <a:latin typeface="Plus Jakarta Sans"/>
              </a:rPr>
              <a:t>TransformedTargetRegressor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525" y="3119437"/>
            <a:ext cx="332735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400" b="0" i="0" u="none">
                <a:solidFill>
                  <a:srgbClr val="166534"/>
                </a:solidFill>
                <a:latin typeface="Plus Jakarta Sans"/>
              </a:rPr>
              <a:t>Biến đổi log1p(y) trong quá trình train và tự động khôi phục expm1(y) khi dự đoán.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1133475"/>
            <a:ext cx="5058667" cy="5343525"/>
          </a:xfrm>
          <a:prstGeom prst="roundRect">
            <a:avLst>
              <a:gd name="adj" fmla="val 225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15892" y="1000125"/>
            <a:ext cx="5990332" cy="5343525"/>
          </a:xfrm>
          <a:prstGeom prst="roundRect">
            <a:avLst>
              <a:gd name="adj" fmla="val 213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57225" y="3887092"/>
            <a:ext cx="4658617" cy="857250"/>
          </a:xfrm>
          <a:prstGeom prst="roundRect">
            <a:avLst>
              <a:gd name="adj" fmla="val 8888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5" name="Rectangle 4"/>
          <p:cNvSpPr/>
          <p:nvPr/>
        </p:nvSpPr>
        <p:spPr>
          <a:xfrm>
            <a:off x="657225" y="3887092"/>
            <a:ext cx="38100" cy="85725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6" name="Rounded Rectangle 5"/>
          <p:cNvSpPr/>
          <p:nvPr/>
        </p:nvSpPr>
        <p:spPr>
          <a:xfrm>
            <a:off x="5944492" y="2909887"/>
            <a:ext cx="5590282" cy="409575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7" name="Rounded Rectangle 6"/>
          <p:cNvSpPr/>
          <p:nvPr/>
        </p:nvSpPr>
        <p:spPr>
          <a:xfrm>
            <a:off x="5944492" y="3709987"/>
            <a:ext cx="5590282" cy="571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2904232"/>
            <a:ext cx="171450" cy="1714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4492" y="2576512"/>
            <a:ext cx="19050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2483" y="3443287"/>
            <a:ext cx="114300" cy="152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2 — TIỀN XỬ LÝ DỮ LIỆU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Bước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3 — Chia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Tập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Dữ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liệu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&amp;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Xây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dựng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225" y="2866132"/>
            <a:ext cx="1914370" cy="200055"/>
          </a:xfrm>
          <a:prstGeom prst="rect">
            <a:avLst/>
          </a:prstGeom>
          <a:noFill/>
        </p:spPr>
        <p:txBody>
          <a:bodyPr wrap="none" lIns="17145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D9488"/>
                </a:solidFill>
                <a:latin typeface="Plus Jakarta Sans"/>
              </a:rPr>
              <a:t>Train / Test Split (80 / 20)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225" y="3237607"/>
            <a:ext cx="4753867" cy="4703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300" b="0" i="0" u="none">
                <a:solidFill>
                  <a:srgbClr val="334155"/>
                </a:solidFill>
                <a:latin typeface="Plus Jakarta Sans"/>
              </a:rPr>
              <a:t>Chia 24.723 bản ghi theo tỷ lệ 80% Train và 20% Test với random_state = 42 cố định.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4492" y="2538412"/>
            <a:ext cx="2257028" cy="200055"/>
          </a:xfrm>
          <a:prstGeom prst="rect">
            <a:avLst/>
          </a:prstGeom>
          <a:noFill/>
        </p:spPr>
        <p:txBody>
          <a:bodyPr wrap="none" lIns="190500" tIns="0" rIns="0" bIns="0" anchor="t">
            <a:spAutoFit/>
          </a:bodyPr>
          <a:lstStyle/>
          <a:p>
            <a:pPr algn="l"/>
            <a:r>
              <a:rPr sz="1300" b="1" i="0" u="none" dirty="0" err="1">
                <a:solidFill>
                  <a:srgbClr val="0284C7"/>
                </a:solidFill>
                <a:latin typeface="Plus Jakarta Sans"/>
              </a:rPr>
              <a:t>Kiến</a:t>
            </a:r>
            <a:r>
              <a:rPr sz="1300" b="1" i="0" u="none" dirty="0">
                <a:solidFill>
                  <a:srgbClr val="0284C7"/>
                </a:solidFill>
                <a:latin typeface="Plus Jakarta Sans"/>
              </a:rPr>
              <a:t> </a:t>
            </a:r>
            <a:r>
              <a:rPr sz="1300" b="1" i="0" u="none" dirty="0" err="1">
                <a:solidFill>
                  <a:srgbClr val="0284C7"/>
                </a:solidFill>
                <a:latin typeface="Plus Jakarta Sans"/>
              </a:rPr>
              <a:t>trúc</a:t>
            </a:r>
            <a:r>
              <a:rPr sz="1300" b="1" i="0" u="none" dirty="0">
                <a:solidFill>
                  <a:srgbClr val="0284C7"/>
                </a:solidFill>
                <a:latin typeface="Plus Jakarta Sans"/>
              </a:rPr>
              <a:t> Scikit-Learn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725" y="4039492"/>
            <a:ext cx="1588127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CHỐNG DATA LEAKAGE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" y="4249042"/>
            <a:ext cx="4410967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u="none">
                <a:solidFill>
                  <a:srgbClr val="475569"/>
                </a:solidFill>
                <a:latin typeface="Plus Jakarta Sans"/>
              </a:rPr>
              <a:t>Lệnh fit() chỉ được gọi trên tập Train. Tập Test chỉ chạy transform().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892" y="3024187"/>
            <a:ext cx="5380732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u="none">
                <a:solidFill>
                  <a:srgbClr val="0F172A"/>
                </a:solidFill>
                <a:latin typeface="JetBrains Mono"/>
              </a:rPr>
              <a:t>ColumnTransformer(num_pipe, cat_pipe)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892" y="3824287"/>
            <a:ext cx="5380732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u="none">
                <a:solidFill>
                  <a:srgbClr val="0F172A"/>
                </a:solidFill>
                <a:latin typeface="JetBrains Mono"/>
              </a:rPr>
              <a:t>TransformedTargetRegressor(regressor=Model, func=np.log1p, inverse_func=np.expm1)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090737"/>
            <a:ext cx="2676525" cy="3429000"/>
          </a:xfrm>
          <a:prstGeom prst="roundRect">
            <a:avLst>
              <a:gd name="adj" fmla="val 427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324225" y="2090737"/>
            <a:ext cx="2676525" cy="3429000"/>
          </a:xfrm>
          <a:prstGeom prst="roundRect">
            <a:avLst>
              <a:gd name="adj" fmla="val 427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4" name="Rounded Rectangle 3"/>
          <p:cNvSpPr/>
          <p:nvPr/>
        </p:nvSpPr>
        <p:spPr>
          <a:xfrm>
            <a:off x="6191250" y="2090737"/>
            <a:ext cx="2676525" cy="3429000"/>
          </a:xfrm>
          <a:prstGeom prst="roundRect">
            <a:avLst>
              <a:gd name="adj" fmla="val 427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5" name="Rounded Rectangle 4"/>
          <p:cNvSpPr/>
          <p:nvPr/>
        </p:nvSpPr>
        <p:spPr>
          <a:xfrm>
            <a:off x="9058275" y="2090737"/>
            <a:ext cx="2676525" cy="3429000"/>
          </a:xfrm>
          <a:prstGeom prst="roundRect">
            <a:avLst>
              <a:gd name="adj" fmla="val 427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6" name="Rounded Rectangle 5"/>
          <p:cNvSpPr/>
          <p:nvPr/>
        </p:nvSpPr>
        <p:spPr>
          <a:xfrm>
            <a:off x="657225" y="2300287"/>
            <a:ext cx="704850" cy="219075"/>
          </a:xfrm>
          <a:prstGeom prst="roundRect">
            <a:avLst>
              <a:gd name="adj" fmla="val 17391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7" name="Rounded Rectangle 6"/>
          <p:cNvSpPr/>
          <p:nvPr/>
        </p:nvSpPr>
        <p:spPr>
          <a:xfrm>
            <a:off x="3524250" y="2300287"/>
            <a:ext cx="885825" cy="219075"/>
          </a:xfrm>
          <a:prstGeom prst="roundRect">
            <a:avLst>
              <a:gd name="adj" fmla="val 17391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8" name="Rounded Rectangle 7"/>
          <p:cNvSpPr/>
          <p:nvPr/>
        </p:nvSpPr>
        <p:spPr>
          <a:xfrm>
            <a:off x="6391275" y="2300287"/>
            <a:ext cx="762000" cy="219075"/>
          </a:xfrm>
          <a:prstGeom prst="roundRect">
            <a:avLst>
              <a:gd name="adj" fmla="val 17391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9" name="Rounded Rectangle 8"/>
          <p:cNvSpPr/>
          <p:nvPr/>
        </p:nvSpPr>
        <p:spPr>
          <a:xfrm>
            <a:off x="9258300" y="2300287"/>
            <a:ext cx="1171575" cy="219075"/>
          </a:xfrm>
          <a:prstGeom prst="roundRect">
            <a:avLst>
              <a:gd name="adj" fmla="val 17391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10" name="TextBox 9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3 — THỬ NGHIỆM &amp; SO SÁNH MÔ HÌNH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F172A"/>
                </a:solidFill>
                <a:latin typeface="Plus Jakarta Sans"/>
              </a:rPr>
              <a:t>4 Mô hình Học máy Thử nghiệm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" y="5167312"/>
            <a:ext cx="1247201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Tốc độ: Rất nhanh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4250" y="5167312"/>
            <a:ext cx="945772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Tốc độ: 17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275" y="5167312"/>
            <a:ext cx="1114088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Kích thước: Lớn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58300" y="5167312"/>
            <a:ext cx="1500539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766E"/>
                </a:solidFill>
                <a:latin typeface="Plus Jakarta Sans"/>
              </a:rPr>
              <a:t>Model Size: ~0.18 MB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424" y="2338387"/>
            <a:ext cx="828675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u="none" dirty="0">
                <a:solidFill>
                  <a:srgbClr val="475569"/>
                </a:solidFill>
                <a:latin typeface="Plus Jakarta Sans"/>
              </a:rPr>
              <a:t>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225" y="2586037"/>
            <a:ext cx="1212383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Linear Regression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225" y="2881312"/>
            <a:ext cx="2371725" cy="608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300" b="0" i="0" u="none">
                <a:solidFill>
                  <a:srgbClr val="475569"/>
                </a:solidFill>
                <a:latin typeface="Plus Jakarta Sans"/>
              </a:rPr>
              <a:t>Mô hình tuyến tính cơ sở. Học trọng số w cho các đặc trưng sau khi mã hóa one-hot.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450" y="2338387"/>
            <a:ext cx="1161703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u="none" dirty="0">
                <a:solidFill>
                  <a:srgbClr val="475569"/>
                </a:solidFill>
                <a:latin typeface="Plus Jakarta Sans"/>
              </a:rPr>
              <a:t>TREE-BASED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4250" y="2586037"/>
            <a:ext cx="924164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Decision Tree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4250" y="2881312"/>
            <a:ext cx="2371725" cy="608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300" b="0" i="0" u="none">
                <a:solidFill>
                  <a:srgbClr val="475569"/>
                </a:solidFill>
                <a:latin typeface="Plus Jakarta Sans"/>
              </a:rPr>
              <a:t>Mô hình cây quyết định đơn lẻ. Học phi tuyến tính dựa trên các ngưỡng phân nhánh dữ liệu.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7475" y="2338387"/>
            <a:ext cx="8763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u="none" dirty="0">
                <a:solidFill>
                  <a:srgbClr val="475569"/>
                </a:solidFill>
                <a:latin typeface="Plus Jakarta Sans"/>
              </a:rPr>
              <a:t>ENSEMBLE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275" y="2586037"/>
            <a:ext cx="1047403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Random Forest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275" y="2881312"/>
            <a:ext cx="2371725" cy="608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300" b="0" i="0" u="none">
                <a:solidFill>
                  <a:srgbClr val="475569"/>
                </a:solidFill>
                <a:latin typeface="Plus Jakarta Sans"/>
              </a:rPr>
              <a:t>Tập hợp nhiều cây quyết định kết hợp bagging để giảm variance và hạn chế overfitting.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4500" y="2338387"/>
            <a:ext cx="1114425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FFFFFF"/>
                </a:solidFill>
                <a:latin typeface="Plus Jakarta Sans"/>
              </a:rPr>
              <a:t>BEST PERFORMER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300" y="2586037"/>
            <a:ext cx="2490311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766E"/>
                </a:solidFill>
                <a:latin typeface="Plus Jakarta Sans"/>
              </a:rPr>
              <a:t>Support Vector Regression (SVR)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3100387"/>
            <a:ext cx="2371725" cy="608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300" b="0" i="0" u="none">
                <a:solidFill>
                  <a:srgbClr val="115E59"/>
                </a:solidFill>
                <a:latin typeface="Plus Jakarta Sans"/>
              </a:rPr>
              <a:t>Sử dụng nhân Kernel phi tuyến tính tối ưu khoảng cách epsilon-margin.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4824412"/>
            <a:ext cx="11277600" cy="523875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248025"/>
            <a:ext cx="318938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46586" y="3248025"/>
            <a:ext cx="170929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355877" y="3248025"/>
            <a:ext cx="181257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168455" y="3248025"/>
            <a:ext cx="97512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143577" y="3248025"/>
            <a:ext cx="168637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829948" y="3248025"/>
            <a:ext cx="190485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3705225"/>
            <a:ext cx="318938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46586" y="3705225"/>
            <a:ext cx="170929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355877" y="3705225"/>
            <a:ext cx="181257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168455" y="3705225"/>
            <a:ext cx="97512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143577" y="3705225"/>
            <a:ext cx="168637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829948" y="3705225"/>
            <a:ext cx="190485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4162425"/>
            <a:ext cx="318938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46586" y="4162425"/>
            <a:ext cx="170929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355877" y="4162425"/>
            <a:ext cx="181257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168455" y="4162425"/>
            <a:ext cx="97512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43577" y="4162425"/>
            <a:ext cx="168637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829948" y="4162425"/>
            <a:ext cx="190485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4619625"/>
            <a:ext cx="318938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46586" y="4619625"/>
            <a:ext cx="170929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355877" y="4619625"/>
            <a:ext cx="181257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68455" y="4619625"/>
            <a:ext cx="97512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43577" y="4619625"/>
            <a:ext cx="168637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829948" y="4619625"/>
            <a:ext cx="190485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7" name="Table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9445651"/>
              </p:ext>
            </p:extLst>
          </p:nvPr>
        </p:nvGraphicFramePr>
        <p:xfrm>
          <a:off x="457200" y="2357437"/>
          <a:ext cx="11277597" cy="2276475"/>
        </p:xfrm>
        <a:graphic>
          <a:graphicData uri="http://schemas.openxmlformats.org/drawingml/2006/table">
            <a:tbl>
              <a:tblPr/>
              <a:tblGrid>
                <a:gridCol w="3189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92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25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51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63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048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5295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Mô hình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MAE (triệu VNĐ)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RMSE (triệu VNĐ)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R² Test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Tốc độ Suy luận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Dung lượng Model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295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766E"/>
                          </a:solidFill>
                          <a:latin typeface="Plus Jakarta Sans"/>
                        </a:rPr>
                        <a:t>Support Vector Regression (SVR)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766E"/>
                          </a:solidFill>
                          <a:latin typeface="Plus Jakarta Sans"/>
                        </a:rPr>
                        <a:t>83.3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766E"/>
                          </a:solidFill>
                          <a:latin typeface="Plus Jakarta Sans"/>
                        </a:rPr>
                        <a:t>489.0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766E"/>
                          </a:solidFill>
                          <a:latin typeface="Plus Jakarta Sans"/>
                        </a:rPr>
                        <a:t>0.9772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 dirty="0">
                          <a:solidFill>
                            <a:srgbClr val="0F766E"/>
                          </a:solidFill>
                          <a:latin typeface="Plus Jakarta Sans"/>
                        </a:rPr>
                        <a:t>~2</a:t>
                      </a:r>
                      <a:r>
                        <a:rPr lang="en-US" sz="1125" b="1" i="0" u="none" dirty="0">
                          <a:solidFill>
                            <a:srgbClr val="0F766E"/>
                          </a:solidFill>
                          <a:latin typeface="Plus Jakarta Sans"/>
                        </a:rPr>
                        <a:t>4</a:t>
                      </a:r>
                      <a:r>
                        <a:rPr sz="1125" b="1" i="0" u="none" dirty="0">
                          <a:solidFill>
                            <a:srgbClr val="0F766E"/>
                          </a:solidFill>
                          <a:latin typeface="Plus Jakarta Sans"/>
                        </a:rPr>
                        <a:t> </a:t>
                      </a:r>
                      <a:r>
                        <a:rPr sz="1125" b="1" i="0" u="none" dirty="0" err="1">
                          <a:solidFill>
                            <a:srgbClr val="0F766E"/>
                          </a:solidFill>
                          <a:latin typeface="Plus Jakarta Sans"/>
                        </a:rPr>
                        <a:t>ms</a:t>
                      </a:r>
                      <a:endParaRPr sz="1125" b="1" i="0" u="none" dirty="0">
                        <a:solidFill>
                          <a:srgbClr val="0F766E"/>
                        </a:solidFill>
                        <a:latin typeface="Plus Jakarta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766E"/>
                          </a:solidFill>
                          <a:latin typeface="Plus Jakarta Sans"/>
                        </a:rPr>
                        <a:t>~0.18 MB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CF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295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Linear Regression (Baseline)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100.2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434.7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0.9676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rgbClr val="1E293B"/>
                          </a:solidFill>
                          <a:latin typeface="Plus Jakarta Sans"/>
                        </a:rPr>
                        <a:t>~1</a:t>
                      </a:r>
                      <a:r>
                        <a:rPr lang="en-US" sz="1125" b="0" i="0" u="none" dirty="0">
                          <a:solidFill>
                            <a:srgbClr val="1E293B"/>
                          </a:solidFill>
                          <a:latin typeface="Plus Jakarta Sans"/>
                        </a:rPr>
                        <a:t>4</a:t>
                      </a:r>
                      <a:r>
                        <a:rPr sz="1125" b="0" i="0" u="none" dirty="0">
                          <a:solidFill>
                            <a:srgbClr val="1E293B"/>
                          </a:solidFill>
                          <a:latin typeface="Plus Jakarta Sans"/>
                        </a:rPr>
                        <a:t>0 </a:t>
                      </a:r>
                      <a:r>
                        <a:rPr sz="1125" b="0" i="0" u="none" dirty="0" err="1">
                          <a:solidFill>
                            <a:srgbClr val="1E293B"/>
                          </a:solidFill>
                          <a:latin typeface="Plus Jakarta Sans"/>
                        </a:rPr>
                        <a:t>ms</a:t>
                      </a:r>
                      <a:endParaRPr sz="1125" b="0" i="0" u="none" dirty="0">
                        <a:solidFill>
                          <a:srgbClr val="1E293B"/>
                        </a:solidFill>
                        <a:latin typeface="Plus Jakarta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Nhỏ (&lt; 1 MB)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295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Random Forest Regression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136.1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457.5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0.9429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rgbClr val="1E293B"/>
                          </a:solidFill>
                          <a:latin typeface="Plus Jakarta Sans"/>
                        </a:rPr>
                        <a:t>~1</a:t>
                      </a:r>
                      <a:r>
                        <a:rPr lang="en-US" sz="1125" b="0" i="0" u="none" dirty="0">
                          <a:solidFill>
                            <a:srgbClr val="1E293B"/>
                          </a:solidFill>
                          <a:latin typeface="Plus Jakarta Sans"/>
                        </a:rPr>
                        <a:t>4</a:t>
                      </a:r>
                      <a:r>
                        <a:rPr sz="1125" b="0" i="0" u="none" dirty="0">
                          <a:solidFill>
                            <a:srgbClr val="1E293B"/>
                          </a:solidFill>
                          <a:latin typeface="Plus Jakarta Sans"/>
                        </a:rPr>
                        <a:t>0 </a:t>
                      </a:r>
                      <a:r>
                        <a:rPr sz="1125" b="0" i="0" u="none" dirty="0" err="1">
                          <a:solidFill>
                            <a:srgbClr val="1E293B"/>
                          </a:solidFill>
                          <a:latin typeface="Plus Jakarta Sans"/>
                        </a:rPr>
                        <a:t>ms</a:t>
                      </a:r>
                      <a:endParaRPr sz="1125" b="0" i="0" u="none" dirty="0">
                        <a:solidFill>
                          <a:srgbClr val="1E293B"/>
                        </a:solidFill>
                        <a:latin typeface="Plus Jakarta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Lớn (~100 MB)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5295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Decision Tree Regression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217.1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611.6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0.8980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rgbClr val="1E293B"/>
                          </a:solidFill>
                          <a:latin typeface="Plus Jakarta Sans"/>
                        </a:rPr>
                        <a:t>~1</a:t>
                      </a:r>
                      <a:r>
                        <a:rPr lang="en-US" sz="1125" b="0" i="0" u="none" dirty="0">
                          <a:solidFill>
                            <a:srgbClr val="1E293B"/>
                          </a:solidFill>
                          <a:latin typeface="Plus Jakarta Sans"/>
                        </a:rPr>
                        <a:t>4</a:t>
                      </a:r>
                      <a:r>
                        <a:rPr sz="1125" b="0" i="0" u="none" dirty="0">
                          <a:solidFill>
                            <a:srgbClr val="1E293B"/>
                          </a:solidFill>
                          <a:latin typeface="Plus Jakarta Sans"/>
                        </a:rPr>
                        <a:t> </a:t>
                      </a:r>
                      <a:r>
                        <a:rPr sz="1125" b="0" i="0" u="none" dirty="0" err="1">
                          <a:solidFill>
                            <a:srgbClr val="1E293B"/>
                          </a:solidFill>
                          <a:latin typeface="Plus Jakarta Sans"/>
                        </a:rPr>
                        <a:t>ms</a:t>
                      </a:r>
                      <a:endParaRPr sz="1125" b="0" i="0" u="none" dirty="0">
                        <a:solidFill>
                          <a:srgbClr val="1E293B"/>
                        </a:solidFill>
                        <a:latin typeface="Plus Jakarta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rgbClr val="1E293B"/>
                          </a:solidFill>
                          <a:latin typeface="Plus Jakarta Sans"/>
                        </a:rPr>
                        <a:t>Trung </a:t>
                      </a:r>
                      <a:r>
                        <a:rPr sz="1125" b="0" i="0" u="none" dirty="0" err="1">
                          <a:solidFill>
                            <a:srgbClr val="1E293B"/>
                          </a:solidFill>
                          <a:latin typeface="Plus Jakarta Sans"/>
                        </a:rPr>
                        <a:t>bình</a:t>
                      </a:r>
                      <a:endParaRPr sz="1125" b="0" i="0" u="none" dirty="0">
                        <a:solidFill>
                          <a:srgbClr val="1E293B"/>
                        </a:solidFill>
                        <a:latin typeface="Plus Jakarta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3 — THỬ NGHIỆM &amp; SO SÁNH MÔ HÌNH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F172A"/>
                </a:solidFill>
                <a:latin typeface="Plus Jakarta Sans"/>
              </a:rPr>
              <a:t>Bảng Đánh giá Kết quả Thực nghiệm (Test Set)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" y="4986337"/>
            <a:ext cx="115347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475569"/>
                </a:solidFill>
                <a:latin typeface="Plus Jakarta Sans"/>
              </a:rPr>
              <a:t>* </a:t>
            </a:r>
            <a:r>
              <a:rPr sz="1050" b="1" i="0" u="none">
                <a:solidFill>
                  <a:srgbClr val="475569"/>
                </a:solidFill>
                <a:latin typeface="Plus Jakarta Sans"/>
              </a:rPr>
              <a:t>Ghi chú:</a:t>
            </a:r>
            <a:r>
              <a:rPr sz="1050" b="0" i="0" u="none">
                <a:solidFill>
                  <a:srgbClr val="475569"/>
                </a:solidFill>
                <a:latin typeface="Plus Jakarta Sans"/>
              </a:rPr>
              <a:t> Số liệu thu được từ quá trình đánh giá thực nghiệm trên tập Test cố định (20% dữ liệu). SVR cho chỉ số R² vượt trội cùng dung lượng lưu trữ cực kỳ tối ưu.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1804987"/>
            <a:ext cx="5524500" cy="40005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3" name="Rounded Rectangle 2"/>
          <p:cNvSpPr/>
          <p:nvPr/>
        </p:nvSpPr>
        <p:spPr>
          <a:xfrm>
            <a:off x="6210300" y="1804987"/>
            <a:ext cx="5524500" cy="40005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4" name="Rounded Rectangle 3"/>
          <p:cNvSpPr/>
          <p:nvPr/>
        </p:nvSpPr>
        <p:spPr>
          <a:xfrm>
            <a:off x="657225" y="3209925"/>
            <a:ext cx="5124450" cy="1143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5" name="Rounded Rectangle 4"/>
          <p:cNvSpPr/>
          <p:nvPr/>
        </p:nvSpPr>
        <p:spPr>
          <a:xfrm>
            <a:off x="657225" y="3686175"/>
            <a:ext cx="5124450" cy="1143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6" name="Rounded Rectangle 5"/>
          <p:cNvSpPr/>
          <p:nvPr/>
        </p:nvSpPr>
        <p:spPr>
          <a:xfrm>
            <a:off x="657225" y="4162425"/>
            <a:ext cx="5124450" cy="1143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7" name="Rounded Rectangle 6"/>
          <p:cNvSpPr/>
          <p:nvPr/>
        </p:nvSpPr>
        <p:spPr>
          <a:xfrm>
            <a:off x="657225" y="4638675"/>
            <a:ext cx="5124450" cy="1143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8" name="Rounded Rectangle 7"/>
          <p:cNvSpPr/>
          <p:nvPr/>
        </p:nvSpPr>
        <p:spPr>
          <a:xfrm>
            <a:off x="6410325" y="3209925"/>
            <a:ext cx="5124450" cy="1143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9" name="Rounded Rectangle 8"/>
          <p:cNvSpPr/>
          <p:nvPr/>
        </p:nvSpPr>
        <p:spPr>
          <a:xfrm>
            <a:off x="6410325" y="3686175"/>
            <a:ext cx="5124450" cy="1143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10" name="Rounded Rectangle 9"/>
          <p:cNvSpPr/>
          <p:nvPr/>
        </p:nvSpPr>
        <p:spPr>
          <a:xfrm>
            <a:off x="6410325" y="4162425"/>
            <a:ext cx="5124450" cy="1143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11" name="Rounded Rectangle 10"/>
          <p:cNvSpPr/>
          <p:nvPr/>
        </p:nvSpPr>
        <p:spPr>
          <a:xfrm>
            <a:off x="6410325" y="4638675"/>
            <a:ext cx="5124450" cy="1143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12" name="Rectangle 11"/>
          <p:cNvSpPr/>
          <p:nvPr/>
        </p:nvSpPr>
        <p:spPr>
          <a:xfrm>
            <a:off x="657225" y="3209925"/>
            <a:ext cx="5007471" cy="1143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13" name="Rectangle 12"/>
          <p:cNvSpPr/>
          <p:nvPr/>
        </p:nvSpPr>
        <p:spPr>
          <a:xfrm>
            <a:off x="657225" y="3686175"/>
            <a:ext cx="4958357" cy="1143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14" name="Rectangle 13"/>
          <p:cNvSpPr/>
          <p:nvPr/>
        </p:nvSpPr>
        <p:spPr>
          <a:xfrm>
            <a:off x="657225" y="4162425"/>
            <a:ext cx="4831705" cy="1143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15" name="Rectangle 14"/>
          <p:cNvSpPr/>
          <p:nvPr/>
        </p:nvSpPr>
        <p:spPr>
          <a:xfrm>
            <a:off x="657225" y="4638675"/>
            <a:ext cx="4601616" cy="1143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16" name="Rectangle 15"/>
          <p:cNvSpPr/>
          <p:nvPr/>
        </p:nvSpPr>
        <p:spPr>
          <a:xfrm>
            <a:off x="6410325" y="3209925"/>
            <a:ext cx="1947267" cy="1143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17" name="Rectangle 16"/>
          <p:cNvSpPr/>
          <p:nvPr/>
        </p:nvSpPr>
        <p:spPr>
          <a:xfrm>
            <a:off x="6410325" y="3686175"/>
            <a:ext cx="2357139" cy="1143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18" name="Rectangle 17"/>
          <p:cNvSpPr/>
          <p:nvPr/>
        </p:nvSpPr>
        <p:spPr>
          <a:xfrm>
            <a:off x="6410325" y="4162425"/>
            <a:ext cx="3177033" cy="1143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19" name="Rectangle 18"/>
          <p:cNvSpPr/>
          <p:nvPr/>
        </p:nvSpPr>
        <p:spPr>
          <a:xfrm>
            <a:off x="6410325" y="4638675"/>
            <a:ext cx="5124450" cy="1143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20" name="TextBox 19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3 — THỬ NGHIỆM &amp; SO SÁNH MÔ HÌNH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F172A"/>
                </a:solidFill>
                <a:latin typeface="Plus Jakarta Sans"/>
              </a:rPr>
              <a:t>So sánh Trực quan các Chỉ số Đánh giá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143470" y="2005012"/>
            <a:ext cx="672584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Plus Jakarta Sans"/>
              </a:rPr>
              <a:t>Hệ số Xác định (R² Score)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68" y="5453062"/>
            <a:ext cx="6405562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Chỉ số R² càng gần 1.0 càng tốt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0503" y="2005012"/>
            <a:ext cx="1604093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00" b="1" i="0" u="none">
                <a:solidFill>
                  <a:srgbClr val="0F172A"/>
                </a:solidFill>
                <a:latin typeface="Plus Jakarta Sans"/>
              </a:rPr>
              <a:t>Sai số MAE (Triệu VNĐ)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4869" y="5453062"/>
            <a:ext cx="2015359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00" b="0" i="0" u="none">
                <a:solidFill>
                  <a:srgbClr val="64748B"/>
                </a:solidFill>
                <a:latin typeface="Plus Jakarta Sans"/>
              </a:rPr>
              <a:t>Chỉ số MAE càng nhỏ càng tốt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225" y="3000375"/>
            <a:ext cx="269176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SVR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3000375"/>
            <a:ext cx="469680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D9488"/>
                </a:solidFill>
                <a:latin typeface="Plus Jakarta Sans"/>
              </a:rPr>
              <a:t>0.9772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7225" y="3476625"/>
            <a:ext cx="763799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 dirty="0">
                <a:solidFill>
                  <a:srgbClr val="0F172A"/>
                </a:solidFill>
                <a:latin typeface="Plus Jakarta Sans"/>
              </a:rPr>
              <a:t>Linear Reg.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3525" y="3476625"/>
            <a:ext cx="469680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0.9676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" y="3952875"/>
            <a:ext cx="1047403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Random Forest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4475" y="3952875"/>
            <a:ext cx="469680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0.9429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225" y="4429125"/>
            <a:ext cx="924164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Decision Tree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95900" y="4429125"/>
            <a:ext cx="469680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0.8980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0325" y="3000375"/>
            <a:ext cx="269176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SVR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06125" y="3000375"/>
            <a:ext cx="670055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D9488"/>
                </a:solidFill>
                <a:latin typeface="Plus Jakarta Sans"/>
              </a:rPr>
              <a:t>83.3 triệu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0325" y="3476625"/>
            <a:ext cx="763799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Linear Reg.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39450" y="3476625"/>
            <a:ext cx="755015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100.2 triệu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0325" y="3952875"/>
            <a:ext cx="1047403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Random Forest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7075" y="3952875"/>
            <a:ext cx="755015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136.1 triệu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0325" y="4429125"/>
            <a:ext cx="924164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Decision Tree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06125" y="4429125"/>
            <a:ext cx="755015" cy="2000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217.1 triệu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5542558-570D-6F91-F839-DF2AFD3B7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47" y="757571"/>
            <a:ext cx="10961905" cy="53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7358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557462"/>
            <a:ext cx="5876925" cy="2495550"/>
          </a:xfrm>
          <a:prstGeom prst="roundRect">
            <a:avLst>
              <a:gd name="adj" fmla="val 458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09625" y="2909887"/>
            <a:ext cx="1619250" cy="2667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562725" y="2686050"/>
            <a:ext cx="5172075" cy="2238375"/>
          </a:xfrm>
          <a:prstGeom prst="roundRect">
            <a:avLst>
              <a:gd name="adj" fmla="val 510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409825" y="4024312"/>
            <a:ext cx="9525" cy="676275"/>
          </a:xfrm>
          <a:prstGeom prst="rect">
            <a:avLst/>
          </a:prstGeom>
          <a:solidFill>
            <a:srgbClr val="99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0" y="2924175"/>
            <a:ext cx="171450" cy="1714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3 — THỬ NGHIỆM &amp; SO SÁNH MÔ HÌNH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F172A"/>
                </a:solidFill>
                <a:latin typeface="Plus Jakarta Sans"/>
              </a:rPr>
              <a:t>Mô hình Tối ưu nhất — Support Vector Regression (SVR)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975" y="2967037"/>
            <a:ext cx="144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Plus Jakarta Sans"/>
              </a:rPr>
              <a:t>CHỌN LỰA TRIỂN KHAI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625" y="3367087"/>
            <a:ext cx="6788348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766E"/>
                </a:solidFill>
                <a:latin typeface="Plus Jakarta Sans"/>
              </a:rPr>
              <a:t>Support Vector Regression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2750" y="2886075"/>
            <a:ext cx="2485937" cy="200055"/>
          </a:xfrm>
          <a:prstGeom prst="rect">
            <a:avLst/>
          </a:prstGeom>
          <a:noFill/>
        </p:spPr>
        <p:txBody>
          <a:bodyPr wrap="none" lIns="17145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766E"/>
                </a:solidFill>
                <a:latin typeface="Plus Jakarta Sans"/>
              </a:rPr>
              <a:t>Lý do lựa chọn theo Thực nghiệm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625" y="4024312"/>
            <a:ext cx="17145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15E59"/>
                </a:solidFill>
                <a:latin typeface="Plus Jakarta Sans"/>
              </a:rPr>
              <a:t>R² TEST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625" y="4195762"/>
            <a:ext cx="1714500" cy="5048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766E"/>
                </a:solidFill>
                <a:latin typeface="Plus Jakarta Sans"/>
              </a:rPr>
              <a:t>0.9772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7950" y="4024312"/>
            <a:ext cx="1738312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15E59"/>
                </a:solidFill>
                <a:latin typeface="Plus Jakarta Sans"/>
              </a:rPr>
              <a:t>SAI SỐ MAE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7950" y="4195762"/>
            <a:ext cx="1738312" cy="5048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766E"/>
                </a:solidFill>
                <a:latin typeface="Plus Jakarta Sans"/>
              </a:rPr>
              <a:t>83.3 </a:t>
            </a:r>
            <a:r>
              <a:rPr sz="1350" b="1" i="0" u="none">
                <a:solidFill>
                  <a:srgbClr val="0F766E"/>
                </a:solidFill>
                <a:latin typeface="Plus Jakarta Sans"/>
              </a:rPr>
              <a:t>triệu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2750" y="3181350"/>
            <a:ext cx="4279505" cy="23634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00" b="1" i="0" u="none">
                <a:solidFill>
                  <a:srgbClr val="334155"/>
                </a:solidFill>
                <a:latin typeface="Plus Jakarta Sans"/>
              </a:rPr>
              <a:t>R² cao nhất (0.9772):</a:t>
            </a:r>
            <a:r>
              <a:rPr sz="1300" b="0" i="0" u="none">
                <a:solidFill>
                  <a:srgbClr val="334155"/>
                </a:solidFill>
                <a:latin typeface="Plus Jakarta Sans"/>
              </a:rPr>
              <a:t> Giải thích tới 97.7% biến thiên của giá xe.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2750" y="3438525"/>
            <a:ext cx="4440446" cy="23634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00" b="1" i="0" u="none">
                <a:solidFill>
                  <a:srgbClr val="334155"/>
                </a:solidFill>
                <a:latin typeface="Plus Jakarta Sans"/>
              </a:rPr>
              <a:t>MAE thấp nhất (83.3 triệu):</a:t>
            </a:r>
            <a:r>
              <a:rPr sz="1300" b="0" i="0" u="none">
                <a:solidFill>
                  <a:srgbClr val="334155"/>
                </a:solidFill>
                <a:latin typeface="Plus Jakarta Sans"/>
              </a:rPr>
              <a:t> Độ lệch dự đoán trung bình tốt nhất.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2750" y="3695700"/>
            <a:ext cx="5553075" cy="236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00" b="1" i="0" u="none" dirty="0">
                <a:solidFill>
                  <a:srgbClr val="334155"/>
                </a:solidFill>
                <a:latin typeface="Plus Jakarta Sans"/>
              </a:rPr>
              <a:t>Dung </a:t>
            </a:r>
            <a:r>
              <a:rPr sz="1300" b="1" i="0" u="none" dirty="0" err="1">
                <a:solidFill>
                  <a:srgbClr val="334155"/>
                </a:solidFill>
                <a:latin typeface="Plus Jakarta Sans"/>
              </a:rPr>
              <a:t>lượng</a:t>
            </a:r>
            <a:r>
              <a:rPr sz="1300" b="1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300" b="1" i="0" u="none" dirty="0" err="1">
                <a:solidFill>
                  <a:srgbClr val="334155"/>
                </a:solidFill>
                <a:latin typeface="Plus Jakarta Sans"/>
              </a:rPr>
              <a:t>cực</a:t>
            </a:r>
            <a:r>
              <a:rPr sz="1300" b="1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300" b="1" i="0" u="none" dirty="0" err="1">
                <a:solidFill>
                  <a:srgbClr val="334155"/>
                </a:solidFill>
                <a:latin typeface="Plus Jakarta Sans"/>
              </a:rPr>
              <a:t>nhẹ</a:t>
            </a:r>
            <a:r>
              <a:rPr sz="1300" b="1" i="0" u="none" dirty="0">
                <a:solidFill>
                  <a:srgbClr val="334155"/>
                </a:solidFill>
                <a:latin typeface="Plus Jakarta Sans"/>
              </a:rPr>
              <a:t> (~0.18 MB):</a:t>
            </a:r>
            <a:r>
              <a:rPr sz="1300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300" b="0" i="0" u="none" dirty="0" err="1">
                <a:solidFill>
                  <a:srgbClr val="334155"/>
                </a:solidFill>
                <a:latin typeface="Plus Jakarta Sans"/>
              </a:rPr>
              <a:t>Dễ</a:t>
            </a:r>
            <a:r>
              <a:rPr sz="1300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300" b="0" i="0" u="none" dirty="0" err="1">
                <a:solidFill>
                  <a:srgbClr val="334155"/>
                </a:solidFill>
                <a:latin typeface="Plus Jakarta Sans"/>
              </a:rPr>
              <a:t>dàng</a:t>
            </a:r>
            <a:r>
              <a:rPr sz="1300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300" b="0" i="0" u="none" dirty="0" err="1">
                <a:solidFill>
                  <a:srgbClr val="334155"/>
                </a:solidFill>
                <a:latin typeface="Plus Jakarta Sans"/>
              </a:rPr>
              <a:t>đóng</a:t>
            </a:r>
            <a:r>
              <a:rPr sz="1300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300" b="0" i="0" u="none" dirty="0" err="1">
                <a:solidFill>
                  <a:srgbClr val="334155"/>
                </a:solidFill>
                <a:latin typeface="Plus Jakarta Sans"/>
              </a:rPr>
              <a:t>gói</a:t>
            </a:r>
            <a:r>
              <a:rPr sz="1300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300" b="0" i="0" u="none" dirty="0" err="1">
                <a:solidFill>
                  <a:srgbClr val="334155"/>
                </a:solidFill>
                <a:latin typeface="Plus Jakarta Sans"/>
              </a:rPr>
              <a:t>vào</a:t>
            </a:r>
            <a:r>
              <a:rPr sz="1300" b="0" i="0" u="none" dirty="0">
                <a:solidFill>
                  <a:srgbClr val="334155"/>
                </a:solidFill>
                <a:latin typeface="Plus Jakarta Sans"/>
              </a:rPr>
              <a:t> Docker container.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2750" y="4210050"/>
            <a:ext cx="4867275" cy="236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00" b="1" i="0" u="none">
                <a:solidFill>
                  <a:srgbClr val="334155"/>
                </a:solidFill>
                <a:latin typeface="Plus Jakarta Sans"/>
              </a:rPr>
              <a:t>Suy luận siêu nhanh (~20 ms):</a:t>
            </a:r>
            <a:r>
              <a:rPr sz="1300" b="0" i="0" u="none">
                <a:solidFill>
                  <a:srgbClr val="334155"/>
                </a:solidFill>
                <a:latin typeface="Plus Jakarta Sans"/>
              </a:rPr>
              <a:t> Sẵn sàng đáp ứng yêu cầu Real-time API.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933700"/>
            <a:ext cx="3228975" cy="1743075"/>
          </a:xfrm>
          <a:prstGeom prst="roundRect">
            <a:avLst>
              <a:gd name="adj" fmla="val 655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191000" y="2933700"/>
            <a:ext cx="3228975" cy="1743075"/>
          </a:xfrm>
          <a:prstGeom prst="roundRect">
            <a:avLst>
              <a:gd name="adj" fmla="val 655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924800" y="2933700"/>
            <a:ext cx="3810000" cy="1743075"/>
          </a:xfrm>
          <a:prstGeom prst="roundRect">
            <a:avLst>
              <a:gd name="adj" fmla="val 6557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575" y="3690937"/>
            <a:ext cx="200025" cy="2286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75" y="3690937"/>
            <a:ext cx="200025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187" y="3171825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4987" y="3171825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300" y="3171825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6437" y="3276600"/>
            <a:ext cx="19050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9762" y="3276600"/>
            <a:ext cx="171450" cy="1714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44075" y="3276600"/>
            <a:ext cx="171450" cy="171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3 — TRIỂN KHAI HỆ THỐNG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F172A"/>
                </a:solidFill>
                <a:latin typeface="Plus Jakarta Sans"/>
              </a:rPr>
              <a:t>Kiến trúc Hệ thống — 3 Container Docker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984" y="3667125"/>
            <a:ext cx="3631406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284C7"/>
                </a:solidFill>
                <a:latin typeface="Plus Jakarta Sans"/>
              </a:rPr>
              <a:t>FRONTEND CONTAINER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984" y="3876675"/>
            <a:ext cx="363140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Plus Jakarta Sans"/>
              </a:rPr>
              <a:t>Nginx :3000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984" y="4133850"/>
            <a:ext cx="3631406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HTML / CSS / JS</a:t>
            </a:r>
            <a:r>
              <a:t>
</a:t>
            </a:r>
            <a:r>
              <a:rPr sz="975" b="0" i="0" u="none">
                <a:solidFill>
                  <a:srgbClr val="64748B"/>
                </a:solidFill>
                <a:latin typeface="Plus Jakarta Sans"/>
              </a:rPr>
              <a:t> Form nhập thông tin xe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9784" y="3667125"/>
            <a:ext cx="3631406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4F46E5"/>
                </a:solidFill>
                <a:latin typeface="Plus Jakarta Sans"/>
              </a:rPr>
              <a:t>BACKEND GATEWAY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89784" y="3876675"/>
            <a:ext cx="363140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Plus Jakarta Sans"/>
              </a:rPr>
              <a:t>FastAPI / Flask :8000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89784" y="4133850"/>
            <a:ext cx="3631406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Validate schema · Logging</a:t>
            </a:r>
            <a:r>
              <a:t>
</a:t>
            </a:r>
            <a:r>
              <a:rPr sz="975" b="0" i="0" u="none">
                <a:solidFill>
                  <a:srgbClr val="64748B"/>
                </a:solidFill>
                <a:latin typeface="Plus Jakarta Sans"/>
              </a:rPr>
              <a:t> Tạo request_id · Forward request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956" y="3667125"/>
            <a:ext cx="435768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0F766E"/>
                </a:solidFill>
                <a:latin typeface="Plus Jakarta Sans"/>
              </a:rPr>
              <a:t>AI SERVICE CONTAINER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50956" y="3876675"/>
            <a:ext cx="4357687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Plus Jakarta Sans"/>
              </a:rPr>
              <a:t>AI Engine :8001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956" y="4133850"/>
            <a:ext cx="4357687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0F766E"/>
                </a:solidFill>
                <a:latin typeface="Plus Jakarta Sans"/>
              </a:rPr>
              <a:t>Load 4 model .joblib</a:t>
            </a:r>
            <a:r>
              <a:t>
</a:t>
            </a:r>
            <a:r>
              <a:rPr sz="975" b="0" i="0" u="none">
                <a:solidFill>
                  <a:srgbClr val="0F766E"/>
                </a:solidFill>
                <a:latin typeface="Plus Jakarta Sans"/>
              </a:rPr>
              <a:t> SVR · Linear · RF · Decision Tree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839491"/>
            <a:ext cx="6277867" cy="1931491"/>
          </a:xfrm>
          <a:prstGeom prst="roundRect">
            <a:avLst>
              <a:gd name="adj" fmla="val 5917"/>
            </a:avLst>
          </a:prstGeom>
          <a:solidFill>
            <a:srgbClr val="0F172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3425" y="3401466"/>
            <a:ext cx="5725417" cy="504825"/>
          </a:xfrm>
          <a:prstGeom prst="roundRect">
            <a:avLst>
              <a:gd name="adj" fmla="val 15094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4" name="Rounded Rectangle 3"/>
          <p:cNvSpPr/>
          <p:nvPr/>
        </p:nvSpPr>
        <p:spPr>
          <a:xfrm>
            <a:off x="6963667" y="2600325"/>
            <a:ext cx="4771132" cy="1123950"/>
          </a:xfrm>
          <a:prstGeom prst="roundRect">
            <a:avLst>
              <a:gd name="adj" fmla="val 1016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5" name="Rounded Rectangle 4"/>
          <p:cNvSpPr/>
          <p:nvPr/>
        </p:nvSpPr>
        <p:spPr>
          <a:xfrm>
            <a:off x="6963667" y="3876675"/>
            <a:ext cx="4771132" cy="1133475"/>
          </a:xfrm>
          <a:prstGeom prst="roundRect">
            <a:avLst>
              <a:gd name="adj" fmla="val 1008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25" y="3115716"/>
            <a:ext cx="219075" cy="1714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3692" y="2838450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3692" y="4114800"/>
            <a:ext cx="133350" cy="1714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3 — TRIỂN KHAI HỆ THỐNG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F172A"/>
                </a:solidFill>
                <a:latin typeface="Plus Jakarta Sans"/>
              </a:rPr>
              <a:t>Đóng gói Docker &amp; Public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425" y="3115716"/>
            <a:ext cx="2292422" cy="200055"/>
          </a:xfrm>
          <a:prstGeom prst="rect">
            <a:avLst/>
          </a:prstGeom>
          <a:noFill/>
        </p:spPr>
        <p:txBody>
          <a:bodyPr wrap="none" lIns="276225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94A3B8"/>
                </a:solidFill>
                <a:latin typeface="Plus Jakarta Sans"/>
              </a:rPr>
              <a:t> DOCKER COMPOSE STARTUP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5825" y="3553866"/>
            <a:ext cx="551586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u="none">
                <a:solidFill>
                  <a:srgbClr val="38BDF8"/>
                </a:solidFill>
                <a:latin typeface="JetBrains Mono"/>
              </a:rPr>
              <a:t>$ docker compose up --build -d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425" y="4058691"/>
            <a:ext cx="5820667" cy="4360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300" b="0" i="0" u="none">
                <a:solidFill>
                  <a:srgbClr val="CBD5E1"/>
                </a:solidFill>
                <a:latin typeface="Plus Jakarta Sans"/>
              </a:rPr>
              <a:t>Tự động khởi chạy đồng thời 3 container độc lập, thiết lập mạng nội bộ bridge network cho truyền nhận dữ liệu an toàn.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3692" y="2800350"/>
            <a:ext cx="1905073" cy="200055"/>
          </a:xfrm>
          <a:prstGeom prst="rect">
            <a:avLst/>
          </a:prstGeom>
          <a:noFill/>
        </p:spPr>
        <p:txBody>
          <a:bodyPr wrap="none" lIns="17145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Ngrok Internet Tunneling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3692" y="3095625"/>
            <a:ext cx="4466332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300" b="0" i="0" u="none">
                <a:solidFill>
                  <a:srgbClr val="334155"/>
                </a:solidFill>
                <a:latin typeface="Plus Jakarta Sans"/>
              </a:rPr>
              <a:t>Expose ứng dụng ra Internet công cộng giúp giảng viên và người dùng tra cứu trải nghiệm thực tế mọi lúc.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3692" y="4076700"/>
            <a:ext cx="1194686" cy="200055"/>
          </a:xfrm>
          <a:prstGeom prst="rect">
            <a:avLst/>
          </a:prstGeom>
          <a:noFill/>
        </p:spPr>
        <p:txBody>
          <a:bodyPr wrap="none" lIns="133350" tIns="0" r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0F172A"/>
                </a:solidFill>
                <a:latin typeface="Plus Jakarta Sans"/>
              </a:rPr>
              <a:t>System Logging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3692" y="4371975"/>
            <a:ext cx="4466332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300" b="0" i="0" u="none">
                <a:solidFill>
                  <a:srgbClr val="334155"/>
                </a:solidFill>
                <a:latin typeface="Plus Jakarta Sans"/>
              </a:rPr>
              <a:t>Ghi nhận lịch sử thay đổi IP tunnel công cộng tại tệp: logs/tunnel-changes.log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124200"/>
            <a:ext cx="11277600" cy="1362075"/>
          </a:xfrm>
          <a:prstGeom prst="roundRect">
            <a:avLst>
              <a:gd name="adj" fmla="val 839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0125" y="3438525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4" name="Rounded Rectangle 3"/>
          <p:cNvSpPr/>
          <p:nvPr/>
        </p:nvSpPr>
        <p:spPr>
          <a:xfrm>
            <a:off x="3326606" y="3438525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5" name="Rounded Rectangle 4"/>
          <p:cNvSpPr/>
          <p:nvPr/>
        </p:nvSpPr>
        <p:spPr>
          <a:xfrm>
            <a:off x="5876925" y="3438525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6" name="Rounded Rectangle 5"/>
          <p:cNvSpPr/>
          <p:nvPr/>
        </p:nvSpPr>
        <p:spPr>
          <a:xfrm>
            <a:off x="8451056" y="3438525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7" name="Rounded Rectangle 6"/>
          <p:cNvSpPr/>
          <p:nvPr/>
        </p:nvSpPr>
        <p:spPr>
          <a:xfrm>
            <a:off x="10825162" y="3438525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665" y="3729037"/>
            <a:ext cx="95250" cy="1524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196" y="3729037"/>
            <a:ext cx="95250" cy="1524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8303" y="3729037"/>
            <a:ext cx="95250" cy="1524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1459" y="3729037"/>
            <a:ext cx="95250" cy="15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4 — LUỒNG XỬ LÝ &amp;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Luồng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Xử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lý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Yêu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cầu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Dự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đoán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(Prediction Pipeline)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3494559"/>
            <a:ext cx="62865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681" y="3857625"/>
            <a:ext cx="953787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Plus Jakarta Sans"/>
              </a:rPr>
              <a:t>Người dùng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603" y="4029075"/>
            <a:ext cx="1387945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64748B"/>
                </a:solidFill>
                <a:latin typeface="Plus Jakarta Sans"/>
              </a:rPr>
              <a:t>Nhập thông tin xe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83731" y="3494559"/>
            <a:ext cx="62865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5039" y="3857625"/>
            <a:ext cx="726033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Plus Jakarta Sans"/>
              </a:rPr>
              <a:t>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0207" y="4029075"/>
            <a:ext cx="1375698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64748B"/>
                </a:solidFill>
                <a:latin typeface="Plus Jakarta Sans"/>
              </a:rPr>
              <a:t>Gửi JSON Payload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34050" y="3494559"/>
            <a:ext cx="62865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Plus Jakarta San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2187" y="3857625"/>
            <a:ext cx="1412373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Plus Jakarta Sans"/>
              </a:rPr>
              <a:t>Backend Gateway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8132" y="4029075"/>
            <a:ext cx="2000484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64748B"/>
                </a:solidFill>
                <a:latin typeface="Plus Jakarta Sans"/>
              </a:rPr>
              <a:t>Validate &amp; cấp request_id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181" y="3494559"/>
            <a:ext cx="62865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Plus Jakarta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0539" y="3857625"/>
            <a:ext cx="783933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Plus Jakarta Sans"/>
              </a:rPr>
              <a:t>AI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32482" y="4029075"/>
            <a:ext cx="1580048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64748B"/>
                </a:solidFill>
                <a:latin typeface="Plus Jakarta Sans"/>
              </a:rPr>
              <a:t>Inference 4 Mô hình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82287" y="3494559"/>
            <a:ext cx="62865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Plus Jakarta San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3426" y="3857625"/>
            <a:ext cx="1266372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Plus Jakarta Sans"/>
              </a:rPr>
              <a:t>Kết quả So sánh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38767" y="4029075"/>
            <a:ext cx="1115690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64748B"/>
                </a:solidFill>
                <a:latin typeface="Plus Jakarta Sans"/>
              </a:rPr>
              <a:t>Hiển thị lên UI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391701" y="2356770"/>
            <a:ext cx="3343099" cy="2396353"/>
          </a:xfrm>
          <a:prstGeom prst="roundRect">
            <a:avLst>
              <a:gd name="adj" fmla="val 451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14487"/>
            <a:ext cx="6283374" cy="4381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4 — LUỒNG XỬ LÝ &amp;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F172A"/>
                </a:solidFill>
                <a:latin typeface="Plus Jakarta Sans"/>
              </a:rPr>
              <a:t>Demo Giao diện Nhập liệu &amp; Ước tính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1726" y="2374065"/>
            <a:ext cx="3028774" cy="2370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D9488"/>
                </a:solidFill>
                <a:latin typeface="Plus Jakarta Sans"/>
              </a:rPr>
              <a:t>Thông tin Test thử nghiệm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1726" y="2710449"/>
            <a:ext cx="3028774" cy="249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500" b="1" i="0" u="none">
                <a:solidFill>
                  <a:srgbClr val="334155"/>
                </a:solidFill>
                <a:latin typeface="Plus Jakarta Sans"/>
              </a:rPr>
              <a:t>Thương hiệu:</a:t>
            </a:r>
            <a:r>
              <a:rPr sz="1500" b="0" i="0" u="none">
                <a:solidFill>
                  <a:srgbClr val="334155"/>
                </a:solidFill>
                <a:latin typeface="Plus Jakarta Sans"/>
              </a:rPr>
              <a:t> Toyota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1726" y="2967624"/>
            <a:ext cx="3028774" cy="249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500" b="1" i="0" u="none">
                <a:solidFill>
                  <a:srgbClr val="334155"/>
                </a:solidFill>
                <a:latin typeface="Plus Jakarta Sans"/>
              </a:rPr>
              <a:t>Dòng xe:</a:t>
            </a:r>
            <a:r>
              <a:rPr sz="1500" b="0" i="0" u="none">
                <a:solidFill>
                  <a:srgbClr val="334155"/>
                </a:solidFill>
                <a:latin typeface="Plus Jakarta Sans"/>
              </a:rPr>
              <a:t> Camry 2.5Q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726" y="3224799"/>
            <a:ext cx="3028774" cy="249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500" b="1" i="0" u="none">
                <a:solidFill>
                  <a:srgbClr val="334155"/>
                </a:solidFill>
                <a:latin typeface="Plus Jakarta Sans"/>
              </a:rPr>
              <a:t>Kiểu dáng:</a:t>
            </a:r>
            <a:r>
              <a:rPr sz="1500" b="0" i="0" u="none">
                <a:solidFill>
                  <a:srgbClr val="334155"/>
                </a:solidFill>
                <a:latin typeface="Plus Jakarta Sans"/>
              </a:rPr>
              <a:t> Sedan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1726" y="3481974"/>
            <a:ext cx="3028774" cy="249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500" b="1" i="0" u="none">
                <a:solidFill>
                  <a:srgbClr val="334155"/>
                </a:solidFill>
                <a:latin typeface="Plus Jakarta Sans"/>
              </a:rPr>
              <a:t>Năm sản xuất:</a:t>
            </a:r>
            <a:r>
              <a:rPr sz="1500" b="0" i="0" u="none">
                <a:solidFill>
                  <a:srgbClr val="334155"/>
                </a:solidFill>
                <a:latin typeface="Plus Jakarta Sans"/>
              </a:rPr>
              <a:t> 2018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1726" y="3739149"/>
            <a:ext cx="3028774" cy="249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500" b="1" i="0" u="none">
                <a:solidFill>
                  <a:srgbClr val="334155"/>
                </a:solidFill>
                <a:latin typeface="Plus Jakarta Sans"/>
              </a:rPr>
              <a:t>Số km đã đi:</a:t>
            </a:r>
            <a:r>
              <a:rPr sz="1500" b="0" i="0" u="none">
                <a:solidFill>
                  <a:srgbClr val="334155"/>
                </a:solidFill>
                <a:latin typeface="Plus Jakarta Sans"/>
              </a:rPr>
              <a:t> 50.000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1726" y="3996324"/>
            <a:ext cx="3028774" cy="249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500" b="1" i="0" u="none">
                <a:solidFill>
                  <a:srgbClr val="334155"/>
                </a:solidFill>
                <a:latin typeface="Plus Jakarta Sans"/>
              </a:rPr>
              <a:t>Xuất xứ:</a:t>
            </a:r>
            <a:r>
              <a:rPr sz="1500" b="0" i="0" u="none">
                <a:solidFill>
                  <a:srgbClr val="334155"/>
                </a:solidFill>
                <a:latin typeface="Plus Jakarta Sans"/>
              </a:rPr>
              <a:t> Nhập khẩu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1726" y="4253499"/>
            <a:ext cx="3028774" cy="2431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500" b="1" i="0" u="none" dirty="0" err="1">
                <a:solidFill>
                  <a:srgbClr val="334155"/>
                </a:solidFill>
                <a:latin typeface="Plus Jakarta Sans"/>
              </a:rPr>
              <a:t>Nhiên</a:t>
            </a:r>
            <a:r>
              <a:rPr sz="1500" b="1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334155"/>
                </a:solidFill>
                <a:latin typeface="Plus Jakarta Sans"/>
              </a:rPr>
              <a:t>liệu</a:t>
            </a:r>
            <a:r>
              <a:rPr sz="1500" b="1" i="0" u="none" dirty="0">
                <a:solidFill>
                  <a:srgbClr val="334155"/>
                </a:solidFill>
                <a:latin typeface="Plus Jakarta Sans"/>
              </a:rPr>
              <a:t> / </a:t>
            </a:r>
            <a:r>
              <a:rPr sz="1500" b="1" i="0" u="none" dirty="0" err="1">
                <a:solidFill>
                  <a:srgbClr val="334155"/>
                </a:solidFill>
                <a:latin typeface="Plus Jakarta Sans"/>
              </a:rPr>
              <a:t>Hộp</a:t>
            </a:r>
            <a:r>
              <a:rPr sz="1500" b="1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334155"/>
                </a:solidFill>
                <a:latin typeface="Plus Jakarta Sans"/>
              </a:rPr>
              <a:t>số</a:t>
            </a:r>
            <a:r>
              <a:rPr sz="1500" b="1" i="0" u="none" dirty="0">
                <a:solidFill>
                  <a:srgbClr val="334155"/>
                </a:solidFill>
                <a:latin typeface="Plus Jakarta Sans"/>
              </a:rPr>
              <a:t>:</a:t>
            </a:r>
            <a:r>
              <a:rPr sz="1500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Plus Jakarta Sans"/>
              </a:rPr>
              <a:t>Xăng</a:t>
            </a:r>
            <a:r>
              <a:rPr sz="1500" b="0" i="0" u="none" dirty="0">
                <a:solidFill>
                  <a:srgbClr val="334155"/>
                </a:solidFill>
                <a:latin typeface="Plus Jakarta Sans"/>
              </a:rPr>
              <a:t> / </a:t>
            </a:r>
            <a:r>
              <a:rPr sz="1500" b="0" i="0" u="none" dirty="0" err="1">
                <a:solidFill>
                  <a:srgbClr val="334155"/>
                </a:solidFill>
                <a:latin typeface="Plus Jakarta Sans"/>
              </a:rPr>
              <a:t>Số</a:t>
            </a:r>
            <a:r>
              <a:rPr sz="1500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Plus Jakarta Sans"/>
              </a:rPr>
              <a:t>tự</a:t>
            </a:r>
            <a:r>
              <a:rPr sz="1500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Plus Jakarta Sans"/>
              </a:rPr>
              <a:t>động</a:t>
            </a:r>
            <a:endParaRPr sz="1500" b="0" i="0" u="none" dirty="0">
              <a:solidFill>
                <a:srgbClr val="334155"/>
              </a:solidFill>
              <a:latin typeface="Plus Jakarta Sans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7695A4F-316F-8971-D8F1-F72A27D4F8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44835"/>
            <a:ext cx="7547209" cy="578449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481262"/>
            <a:ext cx="5562600" cy="1247775"/>
          </a:xfrm>
          <a:prstGeom prst="roundRect">
            <a:avLst>
              <a:gd name="adj" fmla="val 9160"/>
            </a:avLst>
          </a:prstGeom>
          <a:solidFill>
            <a:srgbClr val="F0FDFA"/>
          </a:solidFill>
          <a:ln w="952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172200" y="2481262"/>
            <a:ext cx="5562600" cy="1247775"/>
          </a:xfrm>
          <a:prstGeom prst="roundRect">
            <a:avLst>
              <a:gd name="adj" fmla="val 916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3881437"/>
            <a:ext cx="5562600" cy="1247775"/>
          </a:xfrm>
          <a:prstGeom prst="roundRect">
            <a:avLst>
              <a:gd name="adj" fmla="val 916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172200" y="3881437"/>
            <a:ext cx="5562600" cy="1247775"/>
          </a:xfrm>
          <a:prstGeom prst="roundRect">
            <a:avLst>
              <a:gd name="adj" fmla="val 916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191125" y="2690812"/>
            <a:ext cx="628650" cy="180975"/>
          </a:xfrm>
          <a:prstGeom prst="roundRect">
            <a:avLst>
              <a:gd name="adj" fmla="val 21052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48975" y="2690812"/>
            <a:ext cx="685800" cy="180975"/>
          </a:xfrm>
          <a:prstGeom prst="roundRect">
            <a:avLst>
              <a:gd name="adj" fmla="val 21052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43500" y="4090987"/>
            <a:ext cx="676275" cy="180975"/>
          </a:xfrm>
          <a:prstGeom prst="roundRect">
            <a:avLst>
              <a:gd name="adj" fmla="val 21052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915650" y="4090987"/>
            <a:ext cx="619125" cy="180975"/>
          </a:xfrm>
          <a:prstGeom prst="roundRect">
            <a:avLst>
              <a:gd name="adj" fmla="val 21052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4 — LUỒNG XỬ LÝ &amp;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F172A"/>
                </a:solidFill>
                <a:latin typeface="Plus Jakarta Sans"/>
              </a:rPr>
              <a:t>So sánh Kết quả Dự đoán Thực tế trên Giao diện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" y="2957512"/>
            <a:ext cx="6453187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872 Triệu VNĐ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225" y="3376612"/>
            <a:ext cx="6453187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0F766E"/>
                </a:solidFill>
                <a:latin typeface="Plus Jakarta Sans"/>
              </a:rPr>
              <a:t>R²: 0.9772 · MAE: 83.3 triệu VNĐ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2225" y="2957512"/>
            <a:ext cx="5819775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899 Triệu VNĐ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225" y="3376612"/>
            <a:ext cx="581977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Plus Jakarta Sans"/>
              </a:rPr>
              <a:t>R²: 0.9676 · MAE: 100.18 triệu VNĐ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225" y="4357687"/>
            <a:ext cx="6453187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747 Triệu VNĐ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225" y="4776787"/>
            <a:ext cx="6453187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Plus Jakarta Sans"/>
              </a:rPr>
              <a:t>R²: 0.9429 · MAE: 136.12 triệu VNĐ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2225" y="4357687"/>
            <a:ext cx="5819775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729 Triệu VNĐ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2225" y="4776787"/>
            <a:ext cx="581977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Plus Jakarta Sans"/>
              </a:rPr>
              <a:t>R²: 0.8980 · MAE: 217.15 triệu VNĐ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225" y="2681287"/>
            <a:ext cx="366712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766E"/>
                </a:solidFill>
                <a:latin typeface="Plus Jakarta Sans"/>
              </a:rPr>
              <a:t>SUPPORT VECTOR REGRESSION (BEST)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7325" y="2709862"/>
            <a:ext cx="5715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Plus Jakarta Sans"/>
              </a:rPr>
              <a:t>21.99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2225" y="2681287"/>
            <a:ext cx="305990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284C7"/>
                </a:solidFill>
                <a:latin typeface="Plus Jakarta Sans"/>
              </a:rPr>
              <a:t>LINEAR REGRESSION (BASELINE)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25175" y="2709862"/>
            <a:ext cx="6286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369A1"/>
                </a:solidFill>
                <a:latin typeface="Plus Jakarta Sans"/>
              </a:rPr>
              <a:t>164.17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225" y="4081462"/>
            <a:ext cx="16668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75569"/>
                </a:solidFill>
                <a:latin typeface="Plus Jakarta Sans"/>
              </a:rPr>
              <a:t>RANDOM FOREST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9700" y="4110037"/>
            <a:ext cx="6191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475569"/>
                </a:solidFill>
                <a:latin typeface="Plus Jakarta Sans"/>
              </a:rPr>
              <a:t>159.61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2225" y="4081462"/>
            <a:ext cx="144065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75569"/>
                </a:solidFill>
                <a:latin typeface="Plus Jakarta Sans"/>
              </a:rPr>
              <a:t>DECISION TREE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91850" y="4110037"/>
            <a:ext cx="56197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475569"/>
                </a:solidFill>
                <a:latin typeface="Plus Jakarta Sans"/>
              </a:rPr>
              <a:t>17.36 ms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199" y="1428750"/>
            <a:ext cx="6257925" cy="2057400"/>
          </a:xfrm>
          <a:prstGeom prst="roundRect">
            <a:avLst>
              <a:gd name="adj" fmla="val 5555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3" name="Rounded Rectangle 2"/>
          <p:cNvSpPr/>
          <p:nvPr/>
        </p:nvSpPr>
        <p:spPr>
          <a:xfrm>
            <a:off x="5981700" y="4000500"/>
            <a:ext cx="5524500" cy="1457325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 dirty="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1666875"/>
            <a:ext cx="152400" cy="1714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725" y="4238625"/>
            <a:ext cx="190500" cy="171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95275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5 — KẾT LUẬN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9600"/>
            <a:ext cx="1661993" cy="32117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Kết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luận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Dự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án</a:t>
            </a:r>
            <a:endParaRPr sz="21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7225" y="1628775"/>
            <a:ext cx="1795171" cy="230832"/>
          </a:xfrm>
          <a:prstGeom prst="rect">
            <a:avLst/>
          </a:prstGeom>
          <a:noFill/>
        </p:spPr>
        <p:txBody>
          <a:bodyPr wrap="none" lIns="15240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766E"/>
                </a:solidFill>
                <a:latin typeface="Plus Jakarta Sans"/>
              </a:rPr>
              <a:t>Thành tựu Đạt được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1725" y="4200525"/>
            <a:ext cx="1741054" cy="230832"/>
          </a:xfrm>
          <a:prstGeom prst="rect">
            <a:avLst/>
          </a:prstGeom>
          <a:noFill/>
        </p:spPr>
        <p:txBody>
          <a:bodyPr wrap="none" lIns="19050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284C7"/>
                </a:solidFill>
                <a:latin typeface="Plus Jakarta Sans"/>
              </a:rPr>
              <a:t>Độ tin cậy Kiến trúc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81725" y="4572000"/>
            <a:ext cx="52197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334155"/>
                </a:solidFill>
                <a:latin typeface="Plus Jakarta Sans"/>
              </a:rPr>
              <a:t>Việc cô lập dịch vụ AI Service qua API giúp hệ thống sẵn sàng mở rộng scale-out, thay thế hoặc nâng cấp mô hình học máy mà không làm ảnh hưởng đến giao diện người dùng.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225" y="2000250"/>
            <a:ext cx="52197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500" b="1" i="0" u="none">
                <a:solidFill>
                  <a:srgbClr val="115E59"/>
                </a:solidFill>
                <a:latin typeface="Plus Jakarta Sans"/>
              </a:rPr>
              <a:t>Chuẩn hóa Pipeline hoàn chỉnh:</a:t>
            </a:r>
            <a:r>
              <a:rPr sz="1500" b="0" i="0" u="none">
                <a:solidFill>
                  <a:srgbClr val="115E59"/>
                </a:solidFill>
                <a:latin typeface="Plus Jakarta Sans"/>
              </a:rPr>
              <a:t> EDA → Tiền xử lý → Train → Model Packaging → Containerization.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" y="2514600"/>
            <a:ext cx="5983626" cy="24314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500" b="1" i="0" u="none" dirty="0" err="1">
                <a:solidFill>
                  <a:srgbClr val="115E59"/>
                </a:solidFill>
                <a:latin typeface="Plus Jakarta Sans"/>
              </a:rPr>
              <a:t>Mô</a:t>
            </a:r>
            <a:r>
              <a:rPr sz="1500" b="1" i="0" u="none" dirty="0">
                <a:solidFill>
                  <a:srgbClr val="115E59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115E59"/>
                </a:solidFill>
                <a:latin typeface="Plus Jakarta Sans"/>
              </a:rPr>
              <a:t>hình</a:t>
            </a:r>
            <a:r>
              <a:rPr sz="1500" b="1" i="0" u="none" dirty="0">
                <a:solidFill>
                  <a:srgbClr val="115E59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115E59"/>
                </a:solidFill>
                <a:latin typeface="Plus Jakarta Sans"/>
              </a:rPr>
              <a:t>đạt</a:t>
            </a:r>
            <a:r>
              <a:rPr sz="1500" b="1" i="0" u="none" dirty="0">
                <a:solidFill>
                  <a:srgbClr val="115E59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115E59"/>
                </a:solidFill>
                <a:latin typeface="Plus Jakarta Sans"/>
              </a:rPr>
              <a:t>độ</a:t>
            </a:r>
            <a:r>
              <a:rPr sz="1500" b="1" i="0" u="none" dirty="0">
                <a:solidFill>
                  <a:srgbClr val="115E59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115E59"/>
                </a:solidFill>
                <a:latin typeface="Plus Jakarta Sans"/>
              </a:rPr>
              <a:t>chính</a:t>
            </a:r>
            <a:r>
              <a:rPr sz="1500" b="1" i="0" u="none" dirty="0">
                <a:solidFill>
                  <a:srgbClr val="115E59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115E59"/>
                </a:solidFill>
                <a:latin typeface="Plus Jakarta Sans"/>
              </a:rPr>
              <a:t>xác</a:t>
            </a:r>
            <a:r>
              <a:rPr sz="1500" b="1" i="0" u="none" dirty="0">
                <a:solidFill>
                  <a:srgbClr val="115E59"/>
                </a:solidFill>
                <a:latin typeface="Plus Jakarta Sans"/>
              </a:rPr>
              <a:t> </a:t>
            </a:r>
            <a:r>
              <a:rPr sz="1500" b="1" i="0" u="none" dirty="0" err="1">
                <a:solidFill>
                  <a:srgbClr val="115E59"/>
                </a:solidFill>
                <a:latin typeface="Plus Jakarta Sans"/>
              </a:rPr>
              <a:t>cao</a:t>
            </a:r>
            <a:r>
              <a:rPr sz="1500" b="1" i="0" u="none" dirty="0">
                <a:solidFill>
                  <a:srgbClr val="115E59"/>
                </a:solidFill>
                <a:latin typeface="Plus Jakarta Sans"/>
              </a:rPr>
              <a:t>:</a:t>
            </a:r>
            <a:r>
              <a:rPr sz="1500" b="0" i="0" u="none" dirty="0">
                <a:solidFill>
                  <a:srgbClr val="115E59"/>
                </a:solidFill>
                <a:latin typeface="Plus Jakarta Sans"/>
              </a:rPr>
              <a:t> SVR </a:t>
            </a:r>
            <a:r>
              <a:rPr sz="1500" b="0" i="0" u="none" dirty="0" err="1">
                <a:solidFill>
                  <a:srgbClr val="115E59"/>
                </a:solidFill>
                <a:latin typeface="Plus Jakarta Sans"/>
              </a:rPr>
              <a:t>đạt</a:t>
            </a:r>
            <a:r>
              <a:rPr sz="1500" b="0" i="0" u="none" dirty="0">
                <a:solidFill>
                  <a:srgbClr val="115E59"/>
                </a:solidFill>
                <a:latin typeface="Plus Jakarta Sans"/>
              </a:rPr>
              <a:t> R² = 0.9772 </a:t>
            </a:r>
            <a:r>
              <a:rPr sz="1500" b="0" i="0" u="none" dirty="0" err="1">
                <a:solidFill>
                  <a:srgbClr val="115E59"/>
                </a:solidFill>
                <a:latin typeface="Plus Jakarta Sans"/>
              </a:rPr>
              <a:t>và</a:t>
            </a:r>
            <a:r>
              <a:rPr sz="1500" b="0" i="0" u="none" dirty="0">
                <a:solidFill>
                  <a:srgbClr val="115E59"/>
                </a:solidFill>
                <a:latin typeface="Plus Jakarta Sans"/>
              </a:rPr>
              <a:t> MAE = 83.3 </a:t>
            </a:r>
            <a:r>
              <a:rPr sz="1500" b="0" i="0" u="none" dirty="0" err="1">
                <a:solidFill>
                  <a:srgbClr val="115E59"/>
                </a:solidFill>
                <a:latin typeface="Plus Jakarta Sans"/>
              </a:rPr>
              <a:t>triệu</a:t>
            </a:r>
            <a:r>
              <a:rPr sz="1500" b="0" i="0" u="none" dirty="0">
                <a:solidFill>
                  <a:srgbClr val="115E59"/>
                </a:solidFill>
                <a:latin typeface="Plus Jakarta Sans"/>
              </a:rPr>
              <a:t> VNĐ.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225" y="2771775"/>
            <a:ext cx="52197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500" b="1" i="0" u="none">
                <a:solidFill>
                  <a:srgbClr val="115E59"/>
                </a:solidFill>
                <a:latin typeface="Plus Jakarta Sans"/>
              </a:rPr>
              <a:t>Hệ thống Real-time:</a:t>
            </a:r>
            <a:r>
              <a:rPr sz="1500" b="0" i="0" u="none">
                <a:solidFill>
                  <a:srgbClr val="115E59"/>
                </a:solidFill>
                <a:latin typeface="Plus Jakarta Sans"/>
              </a:rPr>
              <a:t> Phục vụ dự đoán đồng thời từ 4 mô hình trong thời gian thực.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1133475"/>
            <a:ext cx="5058667" cy="5343525"/>
          </a:xfrm>
          <a:prstGeom prst="roundRect">
            <a:avLst>
              <a:gd name="adj" fmla="val 2259"/>
            </a:avLst>
          </a:prstGeom>
          <a:solidFill>
            <a:srgbClr val="FFF1F2"/>
          </a:solidFill>
          <a:ln w="9525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44467" y="1133475"/>
            <a:ext cx="5990332" cy="5343525"/>
          </a:xfrm>
          <a:prstGeom prst="roundRect">
            <a:avLst>
              <a:gd name="adj" fmla="val 213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3424237"/>
            <a:ext cx="190500" cy="19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4492" y="3009900"/>
            <a:ext cx="190500" cy="19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CHƯƠNG 5 — KẾT LUẬN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9600"/>
            <a:ext cx="1173480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F172A"/>
                </a:solidFill>
                <a:latin typeface="Plus Jakarta Sans"/>
              </a:rPr>
              <a:t>Hạn chế &amp; Hướng Phát triển Tương lai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7225" y="3781425"/>
            <a:ext cx="4753867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Dữ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liệu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huấn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luyện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là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giá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rao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bán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trực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tuyến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trên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các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sàn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thương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mại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điện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tử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,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chưa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phản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ánh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100%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giá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giao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dịch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chốt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hợp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đồng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thực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 </a:t>
            </a:r>
            <a:r>
              <a:rPr sz="1500" b="0" i="0" u="none" dirty="0" err="1">
                <a:solidFill>
                  <a:srgbClr val="881337"/>
                </a:solidFill>
                <a:latin typeface="Plus Jakarta Sans"/>
              </a:rPr>
              <a:t>tế</a:t>
            </a:r>
            <a:r>
              <a:rPr sz="1500" b="0" i="0" u="none" dirty="0">
                <a:solidFill>
                  <a:srgbClr val="881337"/>
                </a:solidFill>
                <a:latin typeface="Plus Jakarta Sa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975" y="3371850"/>
            <a:ext cx="1301382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9F1239"/>
                </a:solidFill>
                <a:latin typeface="Plus Jakarta Sans"/>
              </a:rPr>
              <a:t>Hạn chế Hiện tại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0242" y="2957512"/>
            <a:ext cx="2192716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766E"/>
                </a:solidFill>
                <a:latin typeface="Plus Jakarta Sans"/>
              </a:rPr>
              <a:t>Hướng Phát triển Tiếp theo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4492" y="3367087"/>
            <a:ext cx="5805115" cy="24314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500" b="1" i="0" u="none">
                <a:solidFill>
                  <a:srgbClr val="334155"/>
                </a:solidFill>
                <a:latin typeface="Plus Jakarta Sans"/>
              </a:rPr>
              <a:t>Tích hợp Database:</a:t>
            </a:r>
            <a:r>
              <a:rPr sz="1500" b="0" i="0" u="none">
                <a:solidFill>
                  <a:srgbClr val="334155"/>
                </a:solidFill>
                <a:latin typeface="Plus Jakarta Sans"/>
              </a:rPr>
              <a:t> Sử dụng MongoDB lưu lịch sử tra cứu của người dùng.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4492" y="3624262"/>
            <a:ext cx="5685532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500" b="1" i="0" u="none">
                <a:solidFill>
                  <a:srgbClr val="334155"/>
                </a:solidFill>
                <a:latin typeface="Plus Jakarta Sans"/>
              </a:rPr>
              <a:t>Tối ưu Hyperparameters:</a:t>
            </a:r>
            <a:r>
              <a:rPr sz="1500" b="0" i="0" u="none">
                <a:solidFill>
                  <a:srgbClr val="334155"/>
                </a:solidFill>
                <a:latin typeface="Plus Jakarta Sans"/>
              </a:rPr>
              <a:t> Áp dụng GridSearchCV / Optuna sâu hơn cho Ensemble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4492" y="4138612"/>
            <a:ext cx="5685532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500" b="1" i="0" u="none">
                <a:solidFill>
                  <a:srgbClr val="334155"/>
                </a:solidFill>
                <a:latin typeface="Plus Jakarta Sans"/>
              </a:rPr>
              <a:t>Multi-modal ML:</a:t>
            </a:r>
            <a:r>
              <a:rPr sz="1500" b="0" i="0" u="none">
                <a:solidFill>
                  <a:srgbClr val="334155"/>
                </a:solidFill>
                <a:latin typeface="Plus Jakarta Sans"/>
              </a:rPr>
              <a:t> Kết hợp mô hình xử lý thị giác (Computer Vision) phân tích hình ảnh xe thực tế.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271837" y="4114800"/>
            <a:ext cx="5648325" cy="866775"/>
          </a:xfrm>
          <a:prstGeom prst="roundRect">
            <a:avLst>
              <a:gd name="adj" fmla="val 13186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1876425"/>
            <a:ext cx="609600" cy="609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312" y="2047875"/>
            <a:ext cx="333375" cy="266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437" y="2714625"/>
            <a:ext cx="12049125" cy="5048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150" b="1" i="0" u="none">
                <a:solidFill>
                  <a:srgbClr val="FFFFFF"/>
                </a:solidFill>
                <a:latin typeface="Plus Jakarta Sans"/>
              </a:rPr>
              <a:t>CẢM ƠN THẦY/CÔ VÀ CÁC BẠN ĐÃ LẮNG NGHE!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39765" y="3371850"/>
            <a:ext cx="4512468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2DD4BF"/>
                </a:solidFill>
                <a:latin typeface="Plus Jakarta Sans"/>
              </a:rPr>
              <a:t>Q &amp; A — CÂU HỎI VÀ THẢO LUẬN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53953" y="4314825"/>
            <a:ext cx="6084093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94A3B8"/>
                </a:solidFill>
                <a:latin typeface="Plus Jakarta Sans"/>
              </a:rPr>
              <a:t>SINH VIÊN THỰC HIỆN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3953" y="4562475"/>
            <a:ext cx="6084093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FFFFFF"/>
                </a:solidFill>
                <a:latin typeface="Plus Jakarta Sans"/>
              </a:rPr>
              <a:t>Đỗ Văn Nghĩa (10123237) — Nguyễn Hoàng Nhất (10123242)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2548</Words>
  <Application>Microsoft Office PowerPoint</Application>
  <PresentationFormat>Widescreen</PresentationFormat>
  <Paragraphs>310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Calibri</vt:lpstr>
      <vt:lpstr>Arial</vt:lpstr>
      <vt:lpstr>Plus Jakarta Sans</vt:lpstr>
      <vt:lpstr>JetBrains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Nhất Hoàng</cp:lastModifiedBy>
  <cp:revision>3</cp:revision>
  <dcterms:created xsi:type="dcterms:W3CDTF">2013-01-27T09:14:16Z</dcterms:created>
  <dcterms:modified xsi:type="dcterms:W3CDTF">2026-10-02T18:48:45Z</dcterms:modified>
  <cp:category/>
</cp:coreProperties>
</file>